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4"/>
  </p:sldMasterIdLst>
  <p:notesMasterIdLst>
    <p:notesMasterId r:id="rId51"/>
  </p:notesMasterIdLst>
  <p:sldIdLst>
    <p:sldId id="258" r:id="rId5"/>
    <p:sldId id="282" r:id="rId6"/>
    <p:sldId id="283" r:id="rId7"/>
    <p:sldId id="284" r:id="rId8"/>
    <p:sldId id="286" r:id="rId9"/>
    <p:sldId id="287" r:id="rId10"/>
    <p:sldId id="288" r:id="rId11"/>
    <p:sldId id="289" r:id="rId12"/>
    <p:sldId id="290" r:id="rId13"/>
    <p:sldId id="291" r:id="rId14"/>
    <p:sldId id="292" r:id="rId15"/>
    <p:sldId id="293" r:id="rId16"/>
    <p:sldId id="294" r:id="rId17"/>
    <p:sldId id="295" r:id="rId18"/>
    <p:sldId id="296" r:id="rId19"/>
    <p:sldId id="356" r:id="rId20"/>
    <p:sldId id="365" r:id="rId21"/>
    <p:sldId id="319" r:id="rId22"/>
    <p:sldId id="363" r:id="rId23"/>
    <p:sldId id="350" r:id="rId24"/>
    <p:sldId id="366" r:id="rId25"/>
    <p:sldId id="324" r:id="rId26"/>
    <p:sldId id="368" r:id="rId27"/>
    <p:sldId id="325" r:id="rId28"/>
    <p:sldId id="326" r:id="rId29"/>
    <p:sldId id="297" r:id="rId30"/>
    <p:sldId id="298" r:id="rId31"/>
    <p:sldId id="299" r:id="rId32"/>
    <p:sldId id="300" r:id="rId33"/>
    <p:sldId id="301" r:id="rId34"/>
    <p:sldId id="302" r:id="rId35"/>
    <p:sldId id="303" r:id="rId36"/>
    <p:sldId id="304" r:id="rId37"/>
    <p:sldId id="305" r:id="rId38"/>
    <p:sldId id="306" r:id="rId39"/>
    <p:sldId id="307" r:id="rId40"/>
    <p:sldId id="308" r:id="rId41"/>
    <p:sldId id="309" r:id="rId42"/>
    <p:sldId id="310" r:id="rId43"/>
    <p:sldId id="311" r:id="rId44"/>
    <p:sldId id="312" r:id="rId45"/>
    <p:sldId id="313" r:id="rId46"/>
    <p:sldId id="314" r:id="rId47"/>
    <p:sldId id="315" r:id="rId48"/>
    <p:sldId id="316" r:id="rId49"/>
    <p:sldId id="317"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4" d="100"/>
          <a:sy n="64" d="100"/>
        </p:scale>
        <p:origin x="740" y="36"/>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D818D7-DF4E-4C59-9BBA-548250DAC33A}" type="datetimeFigureOut">
              <a:rPr lang="en-US" smtClean="0"/>
              <a:t>11/19/2024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900A82-9926-4DBA-8BA5-A22EEB8ACF8E}" type="slidenum">
              <a:rPr lang="en-US" smtClean="0"/>
              <a:t>‹#›</a:t>
            </a:fld>
            <a:endParaRPr lang="en-US" dirty="0"/>
          </a:p>
        </p:txBody>
      </p:sp>
    </p:spTree>
    <p:extLst>
      <p:ext uri="{BB962C8B-B14F-4D97-AF65-F5344CB8AC3E}">
        <p14:creationId xmlns:p14="http://schemas.microsoft.com/office/powerpoint/2010/main" val="284234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3256063" y="6209776"/>
            <a:ext cx="1424199" cy="405158"/>
          </a:xfrm>
          <a:prstGeom prst="rect">
            <a:avLst/>
          </a:prstGeom>
        </p:spPr>
        <p:txBody>
          <a:bodyPr/>
          <a:lstStyle/>
          <a:p>
            <a:endParaRPr lang="en-US" dirty="0"/>
          </a:p>
        </p:txBody>
      </p:sp>
      <p:sp>
        <p:nvSpPr>
          <p:cNvPr id="8" name="Footer Placeholder 7"/>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a:xfrm>
            <a:off x="3256063" y="6209776"/>
            <a:ext cx="1424199" cy="405158"/>
          </a:xfrm>
          <a:prstGeom prst="rect">
            <a:avLst/>
          </a:prstGeom>
        </p:spPr>
        <p:txBody>
          <a:bodyPr/>
          <a:lstStyle/>
          <a:p>
            <a:endParaRPr lang="en-US" dirty="0"/>
          </a:p>
        </p:txBody>
      </p:sp>
      <p:sp>
        <p:nvSpPr>
          <p:cNvPr id="4" name="Footer Placeholder 3"/>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256063" y="6209776"/>
            <a:ext cx="1424199" cy="405158"/>
          </a:xfrm>
          <a:prstGeom prst="rect">
            <a:avLst/>
          </a:prstGeom>
        </p:spPr>
        <p:txBody>
          <a:bodyPr/>
          <a:lstStyle/>
          <a:p>
            <a:endParaRPr lang="en-US" dirty="0"/>
          </a:p>
        </p:txBody>
      </p:sp>
      <p:sp>
        <p:nvSpPr>
          <p:cNvPr id="3" name="Footer Placeholder 2"/>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a:xfrm>
            <a:off x="3256063" y="6209776"/>
            <a:ext cx="1424199" cy="405158"/>
          </a:xfrm>
          <a:prstGeom prst="rect">
            <a:avLst/>
          </a:prstGeom>
        </p:spPr>
        <p:txBody>
          <a:bodyPr/>
          <a:lstStyle/>
          <a:p>
            <a:endParaRPr lang="en-US" dirty="0"/>
          </a:p>
        </p:txBody>
      </p:sp>
      <p:sp>
        <p:nvSpPr>
          <p:cNvPr id="6" name="Footer Placeholder 5"/>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256063" y="6209776"/>
            <a:ext cx="1424199" cy="405158"/>
          </a:xfrm>
          <a:prstGeom prst="rect">
            <a:avLst/>
          </a:prstGeom>
        </p:spPr>
        <p:txBody>
          <a:bodyPr/>
          <a:lstStyle/>
          <a:p>
            <a:endParaRPr lang="en-US" dirty="0"/>
          </a:p>
        </p:txBody>
      </p:sp>
      <p:sp>
        <p:nvSpPr>
          <p:cNvPr id="6" name="Footer Placeholder 5"/>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56063" y="6209776"/>
            <a:ext cx="1424199" cy="405158"/>
          </a:xfrm>
          <a:prstGeom prst="rect">
            <a:avLst/>
          </a:prstGeom>
        </p:spPr>
        <p:txBody>
          <a:bodyPr/>
          <a:lstStyle/>
          <a:p>
            <a:endParaRPr lang="en-US" dirty="0"/>
          </a:p>
        </p:txBody>
      </p:sp>
      <p:sp>
        <p:nvSpPr>
          <p:cNvPr id="5" name="Footer Placeholder 4"/>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56063" y="6209776"/>
            <a:ext cx="1424199" cy="405158"/>
          </a:xfrm>
          <a:prstGeom prst="rect">
            <a:avLst/>
          </a:prstGeom>
        </p:spPr>
        <p:txBody>
          <a:bodyPr/>
          <a:lstStyle/>
          <a:p>
            <a:endParaRPr lang="en-US" dirty="0"/>
          </a:p>
        </p:txBody>
      </p:sp>
      <p:sp>
        <p:nvSpPr>
          <p:cNvPr id="5" name="Footer Placeholder 4"/>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56063" y="6209776"/>
            <a:ext cx="1424199" cy="405158"/>
          </a:xfrm>
          <a:prstGeom prst="rect">
            <a:avLst/>
          </a:prstGeom>
        </p:spPr>
        <p:txBody>
          <a:bodyPr/>
          <a:lstStyle/>
          <a:p>
            <a:endParaRPr lang="en-US" dirty="0"/>
          </a:p>
        </p:txBody>
      </p:sp>
      <p:sp>
        <p:nvSpPr>
          <p:cNvPr id="5" name="Footer Placeholder 4"/>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56063" y="6209776"/>
            <a:ext cx="1424199" cy="405158"/>
          </a:xfrm>
          <a:prstGeom prst="rect">
            <a:avLst/>
          </a:prstGeom>
        </p:spPr>
        <p:txBody>
          <a:bodyPr/>
          <a:lstStyle/>
          <a:p>
            <a:endParaRPr lang="en-US" dirty="0"/>
          </a:p>
        </p:txBody>
      </p:sp>
      <p:sp>
        <p:nvSpPr>
          <p:cNvPr id="5" name="Footer Placeholder 4"/>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56063" y="6209776"/>
            <a:ext cx="1424199" cy="405158"/>
          </a:xfrm>
          <a:prstGeom prst="rect">
            <a:avLst/>
          </a:prstGeom>
        </p:spPr>
        <p:txBody>
          <a:bodyPr/>
          <a:lstStyle/>
          <a:p>
            <a:endParaRPr lang="en-US" dirty="0"/>
          </a:p>
        </p:txBody>
      </p:sp>
      <p:sp>
        <p:nvSpPr>
          <p:cNvPr id="5" name="Footer Placeholder 4"/>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256063" y="6209776"/>
            <a:ext cx="1424199" cy="405158"/>
          </a:xfrm>
          <a:prstGeom prst="rect">
            <a:avLst/>
          </a:prstGeom>
        </p:spPr>
        <p:txBody>
          <a:bodyPr/>
          <a:lstStyle/>
          <a:p>
            <a:endParaRPr lang="en-US" dirty="0"/>
          </a:p>
        </p:txBody>
      </p:sp>
      <p:sp>
        <p:nvSpPr>
          <p:cNvPr id="5" name="Footer Placeholder 4"/>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256063" y="6209776"/>
            <a:ext cx="1424199" cy="405158"/>
          </a:xfrm>
          <a:prstGeom prst="rect">
            <a:avLst/>
          </a:prstGeom>
        </p:spPr>
        <p:txBody>
          <a:bodyPr/>
          <a:lstStyle/>
          <a:p>
            <a:endParaRPr lang="en-US" dirty="0"/>
          </a:p>
        </p:txBody>
      </p:sp>
      <p:sp>
        <p:nvSpPr>
          <p:cNvPr id="5" name="Footer Placeholder 4"/>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4126321" y="266217"/>
            <a:ext cx="5092090" cy="1320800"/>
          </a:xfrm>
          <a:prstGeom prst="rect">
            <a:avLst/>
          </a:prstGeom>
          <a:solidFill>
            <a:schemeClr val="accent1"/>
          </a:solidFill>
          <a:scene3d>
            <a:camera prst="orthographicFront"/>
            <a:lightRig rig="threePt" dir="t"/>
          </a:scene3d>
          <a:sp3d>
            <a:bevelT w="114300" prst="artDeco"/>
          </a:sp3d>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8273543" y="6194536"/>
            <a:ext cx="693882" cy="435638"/>
          </a:xfrm>
          <a:prstGeom prst="rect">
            <a:avLst/>
          </a:prstGeom>
        </p:spPr>
        <p:txBody>
          <a:bodyPr vert="horz" lIns="91440" tIns="45720" rIns="91440" bIns="45720" rtlCol="0" anchor="ctr"/>
          <a:lstStyle>
            <a:lvl1pPr algn="r">
              <a:defRPr sz="2800" b="1">
                <a:solidFill>
                  <a:schemeClr val="tx1"/>
                </a:solidFill>
              </a:defRPr>
            </a:lvl1pPr>
          </a:lstStyle>
          <a:p>
            <a:fld id="{D57F1E4F-1CFF-5643-939E-217C01CDF565}" type="slidenum">
              <a:rPr lang="en-US" smtClean="0"/>
              <a:pPr/>
              <a:t>‹#›</a:t>
            </a:fld>
            <a:endParaRPr lang="en-US" dirty="0"/>
          </a:p>
        </p:txBody>
      </p:sp>
      <p:sp>
        <p:nvSpPr>
          <p:cNvPr id="18" name="Slide Number Placeholder 5">
            <a:extLst>
              <a:ext uri="{FF2B5EF4-FFF2-40B4-BE49-F238E27FC236}">
                <a16:creationId xmlns:a16="http://schemas.microsoft.com/office/drawing/2014/main" id="{E692C7A6-0471-4AC8-A6C7-B723CC763666}"/>
              </a:ext>
            </a:extLst>
          </p:cNvPr>
          <p:cNvSpPr txBox="1">
            <a:spLocks/>
          </p:cNvSpPr>
          <p:nvPr userDrawn="1"/>
        </p:nvSpPr>
        <p:spPr>
          <a:xfrm rot="16689946">
            <a:off x="-494360" y="3032986"/>
            <a:ext cx="1694271" cy="365125"/>
          </a:xfrm>
          <a:prstGeom prst="rect">
            <a:avLst/>
          </a:prstGeom>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txBody>
          <a:bodyPr vert="horz" lIns="91440" tIns="45720" rIns="91440" bIns="45720" rtlCol="0" anchor="ctr"/>
          <a:lstStyle>
            <a:defPPr>
              <a:defRPr lang="en-US"/>
            </a:defPPr>
            <a:lvl1pPr marL="0" algn="r" defTabSz="457200" rtl="0" eaLnBrk="1" latinLnBrk="0" hangingPunct="1">
              <a:defRPr sz="12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400" dirty="0">
                <a:ln>
                  <a:solidFill>
                    <a:schemeClr val="accent2">
                      <a:lumMod val="50000"/>
                    </a:schemeClr>
                  </a:solidFill>
                </a:ln>
                <a:solidFill>
                  <a:schemeClr val="accent2">
                    <a:lumMod val="60000"/>
                    <a:lumOff val="40000"/>
                  </a:schemeClr>
                </a:solidFill>
                <a:effectLst>
                  <a:outerShdw blurRad="60007" dist="310007" dir="7680000" sy="30000" kx="1300200" algn="ctr" rotWithShape="0">
                    <a:prstClr val="black">
                      <a:alpha val="32000"/>
                    </a:prstClr>
                  </a:outerShdw>
                </a:effectLst>
              </a:rPr>
              <a:t>U  D  S</a:t>
            </a:r>
          </a:p>
        </p:txBody>
      </p:sp>
      <p:pic>
        <p:nvPicPr>
          <p:cNvPr id="19" name="Picture 18"/>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150405" y="136266"/>
            <a:ext cx="1327484" cy="1460233"/>
          </a:xfrm>
          <a:prstGeom prst="rect">
            <a:avLst/>
          </a:prstGeom>
        </p:spPr>
      </p:pic>
      <p:sp>
        <p:nvSpPr>
          <p:cNvPr id="30" name="TextBox 29"/>
          <p:cNvSpPr txBox="1"/>
          <p:nvPr userDrawn="1"/>
        </p:nvSpPr>
        <p:spPr>
          <a:xfrm>
            <a:off x="1477888" y="266217"/>
            <a:ext cx="2648433" cy="1200329"/>
          </a:xfrm>
          <a:prstGeom prst="rect">
            <a:avLst/>
          </a:prstGeom>
          <a:noFill/>
        </p:spPr>
        <p:txBody>
          <a:bodyPr wrap="square" rtlCol="0">
            <a:spAutoFit/>
          </a:bodyPr>
          <a:lstStyle/>
          <a:p>
            <a:r>
              <a:rPr lang="en-US" sz="2400" b="1" dirty="0">
                <a:solidFill>
                  <a:srgbClr val="00B050"/>
                </a:solidFill>
              </a:rPr>
              <a:t>UNIVERSITY FOR DEVELOPMENT STUDIES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dissolve">
                                      <p:cBhvr>
                                        <p:cTn id="12" dur="500"/>
                                        <p:tgtEl>
                                          <p:spTgt spid="3">
                                            <p:txEl>
                                              <p:pRg st="0" end="0"/>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dissolve">
                                      <p:cBhvr>
                                        <p:cTn id="15" dur="500"/>
                                        <p:tgtEl>
                                          <p:spTgt spid="3">
                                            <p:txEl>
                                              <p:pRg st="1" end="1"/>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dissolve">
                                      <p:cBhvr>
                                        <p:cTn id="18" dur="500"/>
                                        <p:tgtEl>
                                          <p:spTgt spid="3">
                                            <p:txEl>
                                              <p:pRg st="2" end="2"/>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dissolve">
                                      <p:cBhvr>
                                        <p:cTn id="21" dur="500"/>
                                        <p:tgtEl>
                                          <p:spTgt spid="3">
                                            <p:txEl>
                                              <p:pRg st="3" end="3"/>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dissolve">
                                      <p:cBhvr>
                                        <p:cTn id="24"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tmplLst>
          <p:tmpl lvl="1">
            <p:tnLst>
              <p:par>
                <p:cTn presetID="9"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dissolve">
                      <p:cBhvr>
                        <p:cTn dur="500"/>
                        <p:tgtEl>
                          <p:spTgt spid="3"/>
                        </p:tgtEl>
                      </p:cBhvr>
                    </p:animEffect>
                  </p:childTnLst>
                </p:cTn>
              </p:par>
            </p:tnLst>
          </p:tmpl>
          <p:tmpl lvl="2">
            <p:tnLst>
              <p:par>
                <p:cTn presetID="9"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dissolve">
                      <p:cBhvr>
                        <p:cTn dur="500"/>
                        <p:tgtEl>
                          <p:spTgt spid="3"/>
                        </p:tgtEl>
                      </p:cBhvr>
                    </p:animEffect>
                  </p:childTnLst>
                </p:cTn>
              </p:par>
            </p:tnLst>
          </p:tmpl>
          <p:tmpl lvl="3">
            <p:tnLst>
              <p:par>
                <p:cTn presetID="9"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dissolve">
                      <p:cBhvr>
                        <p:cTn dur="500"/>
                        <p:tgtEl>
                          <p:spTgt spid="3"/>
                        </p:tgtEl>
                      </p:cBhvr>
                    </p:animEffect>
                  </p:childTnLst>
                </p:cTn>
              </p:par>
            </p:tnLst>
          </p:tmpl>
          <p:tmpl lvl="4">
            <p:tnLst>
              <p:par>
                <p:cTn presetID="9"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dissolve">
                      <p:cBhvr>
                        <p:cTn dur="500"/>
                        <p:tgtEl>
                          <p:spTgt spid="3"/>
                        </p:tgtEl>
                      </p:cBhvr>
                    </p:animEffect>
                  </p:childTnLst>
                </p:cTn>
              </p:par>
            </p:tnLst>
          </p:tmpl>
          <p:tmpl lvl="5">
            <p:tnLst>
              <p:par>
                <p:cTn presetID="9"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dissolve">
                      <p:cBhvr>
                        <p:cTn dur="500"/>
                        <p:tgtEl>
                          <p:spTgt spid="3"/>
                        </p:tgtEl>
                      </p:cBhvr>
                    </p:animEffect>
                  </p:childTnLst>
                </p:cTn>
              </p:par>
            </p:tnLst>
          </p:tmpl>
        </p:tmplLst>
      </p:bldP>
    </p:bldLst>
  </p:timing>
  <p:hf sldNum="0" hdr="0" ftr="0" dt="0"/>
  <p:txStyles>
    <p:titleStyle>
      <a:lvl1pPr algn="ctr" defTabSz="457200" rtl="0" eaLnBrk="1" latinLnBrk="0" hangingPunct="1">
        <a:spcBef>
          <a:spcPct val="0"/>
        </a:spcBef>
        <a:buNone/>
        <a:defRPr sz="36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vdyoutube.com/" TargetMode="External"/><Relationship Id="rId2" Type="http://schemas.openxmlformats.org/officeDocument/2006/relationships/hyperlink" Target="http://en.savefrom.net/" TargetMode="External"/><Relationship Id="rId1" Type="http://schemas.openxmlformats.org/officeDocument/2006/relationships/slideLayout" Target="../slideLayouts/slideLayout2.xml"/><Relationship Id="rId4" Type="http://schemas.openxmlformats.org/officeDocument/2006/relationships/hyperlink" Target="https://www.keepdownloading.co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9179DE42-5613-4B35-A1E6-6CCBAA13C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3" name="Straight Connector 32">
            <a:extLst>
              <a:ext uri="{FF2B5EF4-FFF2-40B4-BE49-F238E27FC236}">
                <a16:creationId xmlns:a16="http://schemas.microsoft.com/office/drawing/2014/main" id="{EB898B32-3891-4C3A-8F58-C5969D2E90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48300"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4AE4806D-B8F9-4679-A68A-9BD21C01A3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7175"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37" name="Rectangle 23">
            <a:extLst>
              <a:ext uri="{FF2B5EF4-FFF2-40B4-BE49-F238E27FC236}">
                <a16:creationId xmlns:a16="http://schemas.microsoft.com/office/drawing/2014/main" id="{52FB45E9-914E-4471-AC87-E475CD5176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58764"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9" name="Rectangle 25">
            <a:extLst>
              <a:ext uri="{FF2B5EF4-FFF2-40B4-BE49-F238E27FC236}">
                <a16:creationId xmlns:a16="http://schemas.microsoft.com/office/drawing/2014/main" id="{C310626D-5743-49D4-8F7D-88C4F8F05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80730"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1" name="Isosceles Triangle 40">
            <a:extLst>
              <a:ext uri="{FF2B5EF4-FFF2-40B4-BE49-F238E27FC236}">
                <a16:creationId xmlns:a16="http://schemas.microsoft.com/office/drawing/2014/main" id="{3C195FC1-B568-4C72-9902-34CB35DDD7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9621"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43" name="Rectangle 27">
            <a:extLst>
              <a:ext uri="{FF2B5EF4-FFF2-40B4-BE49-F238E27FC236}">
                <a16:creationId xmlns:a16="http://schemas.microsoft.com/office/drawing/2014/main" id="{EF2BDF77-362C-43F0-8CBB-A969EC2AE0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1788"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5" name="Isosceles Triangle 44">
            <a:extLst>
              <a:ext uri="{FF2B5EF4-FFF2-40B4-BE49-F238E27FC236}">
                <a16:creationId xmlns:a16="http://schemas.microsoft.com/office/drawing/2014/main" id="{4BE96B01-3929-432D-B8C2-ADBCB74C2E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48954"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7" name="Freeform: Shape 46">
            <a:extLst>
              <a:ext uri="{FF2B5EF4-FFF2-40B4-BE49-F238E27FC236}">
                <a16:creationId xmlns:a16="http://schemas.microsoft.com/office/drawing/2014/main" id="{2A6FCDE6-CDE2-4C51-B18E-A95CFB6797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6287" y="-8467"/>
            <a:ext cx="9175713" cy="6866467"/>
          </a:xfrm>
          <a:custGeom>
            <a:avLst/>
            <a:gdLst>
              <a:gd name="connsiteX0" fmla="*/ 0 w 9175713"/>
              <a:gd name="connsiteY0" fmla="*/ 0 h 6866467"/>
              <a:gd name="connsiteX1" fmla="*/ 1249825 w 9175713"/>
              <a:gd name="connsiteY1" fmla="*/ 0 h 6866467"/>
              <a:gd name="connsiteX2" fmla="*/ 1249825 w 9175713"/>
              <a:gd name="connsiteY2" fmla="*/ 8467 h 6866467"/>
              <a:gd name="connsiteX3" fmla="*/ 9175713 w 9175713"/>
              <a:gd name="connsiteY3" fmla="*/ 8467 h 6866467"/>
              <a:gd name="connsiteX4" fmla="*/ 9175713 w 9175713"/>
              <a:gd name="connsiteY4" fmla="*/ 6866467 h 6866467"/>
              <a:gd name="connsiteX5" fmla="*/ 1249825 w 9175713"/>
              <a:gd name="connsiteY5" fmla="*/ 6866467 h 6866467"/>
              <a:gd name="connsiteX6" fmla="*/ 1109382 w 9175713"/>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75713" h="6866467">
                <a:moveTo>
                  <a:pt x="0" y="0"/>
                </a:moveTo>
                <a:lnTo>
                  <a:pt x="1249825" y="0"/>
                </a:lnTo>
                <a:lnTo>
                  <a:pt x="1249825" y="8467"/>
                </a:lnTo>
                <a:lnTo>
                  <a:pt x="9175713" y="8467"/>
                </a:lnTo>
                <a:lnTo>
                  <a:pt x="9175713"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Isosceles Triangle 48">
            <a:extLst>
              <a:ext uri="{FF2B5EF4-FFF2-40B4-BE49-F238E27FC236}">
                <a16:creationId xmlns:a16="http://schemas.microsoft.com/office/drawing/2014/main" id="{9D2E8756-2465-473A-BA2A-2DB1D6224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062562" y="3271487"/>
            <a:ext cx="220660" cy="186439"/>
          </a:xfrm>
          <a:prstGeom prst="triangl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42C1D04-249B-46E2-9FAF-8DF29CC445DB}"/>
              </a:ext>
            </a:extLst>
          </p:cNvPr>
          <p:cNvSpPr>
            <a:spLocks noGrp="1"/>
          </p:cNvSpPr>
          <p:nvPr>
            <p:ph type="ctrTitle"/>
          </p:nvPr>
        </p:nvSpPr>
        <p:spPr>
          <a:xfrm>
            <a:off x="4302625" y="1570665"/>
            <a:ext cx="6960759" cy="3653268"/>
          </a:xfrm>
        </p:spPr>
        <p:txBody>
          <a:bodyPr>
            <a:normAutofit/>
          </a:bodyPr>
          <a:lstStyle/>
          <a:p>
            <a:pPr algn="ctr"/>
            <a:r>
              <a:rPr lang="en-US" sz="6000" dirty="0">
                <a:solidFill>
                  <a:schemeClr val="bg1"/>
                </a:solidFill>
              </a:rPr>
              <a:t>MULTIMEDIA AUTHORING IN EDUCATION</a:t>
            </a:r>
          </a:p>
        </p:txBody>
      </p:sp>
    </p:spTree>
    <p:extLst>
      <p:ext uri="{BB962C8B-B14F-4D97-AF65-F5344CB8AC3E}">
        <p14:creationId xmlns:p14="http://schemas.microsoft.com/office/powerpoint/2010/main" val="201568009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4C30A-1158-4A65-BDAC-B3364523CD43}"/>
              </a:ext>
            </a:extLst>
          </p:cNvPr>
          <p:cNvSpPr>
            <a:spLocks noGrp="1"/>
          </p:cNvSpPr>
          <p:nvPr>
            <p:ph type="title"/>
          </p:nvPr>
        </p:nvSpPr>
        <p:spPr>
          <a:xfrm>
            <a:off x="4403089" y="191952"/>
            <a:ext cx="4472554" cy="1129952"/>
          </a:xfrm>
        </p:spPr>
        <p:txBody>
          <a:bodyPr>
            <a:normAutofit/>
          </a:bodyPr>
          <a:lstStyle/>
          <a:p>
            <a:r>
              <a:rPr lang="en-US" sz="4400" dirty="0"/>
              <a:t>OBJECTIVES</a:t>
            </a:r>
          </a:p>
        </p:txBody>
      </p:sp>
      <p:sp>
        <p:nvSpPr>
          <p:cNvPr id="3" name="Content Placeholder 2">
            <a:extLst>
              <a:ext uri="{FF2B5EF4-FFF2-40B4-BE49-F238E27FC236}">
                <a16:creationId xmlns:a16="http://schemas.microsoft.com/office/drawing/2014/main" id="{11305DCE-0C86-4EF4-953D-586FA60A8AFE}"/>
              </a:ext>
            </a:extLst>
          </p:cNvPr>
          <p:cNvSpPr>
            <a:spLocks noGrp="1"/>
          </p:cNvSpPr>
          <p:nvPr>
            <p:ph idx="1"/>
          </p:nvPr>
        </p:nvSpPr>
        <p:spPr>
          <a:xfrm>
            <a:off x="1094192" y="1591030"/>
            <a:ext cx="9703795" cy="5599454"/>
          </a:xfrm>
        </p:spPr>
        <p:txBody>
          <a:bodyPr>
            <a:noAutofit/>
          </a:bodyPr>
          <a:lstStyle/>
          <a:p>
            <a:r>
              <a:rPr lang="en-US" sz="4000" dirty="0"/>
              <a:t>By the end of the lesson, students will be able to;</a:t>
            </a:r>
          </a:p>
          <a:p>
            <a:r>
              <a:rPr lang="en-US" sz="4000" dirty="0"/>
              <a:t>Explain multimedia</a:t>
            </a:r>
          </a:p>
          <a:p>
            <a:r>
              <a:rPr lang="en-US" sz="4000" dirty="0"/>
              <a:t>Describe the elements of multimedia</a:t>
            </a:r>
          </a:p>
          <a:p>
            <a:r>
              <a:rPr lang="en-US" sz="4000" dirty="0"/>
              <a:t>Differentiate between multimedia and mass media</a:t>
            </a:r>
          </a:p>
          <a:p>
            <a:r>
              <a:rPr lang="en-US" sz="4000" dirty="0"/>
              <a:t>Discuss the need for media in education</a:t>
            </a:r>
          </a:p>
        </p:txBody>
      </p:sp>
    </p:spTree>
    <p:extLst>
      <p:ext uri="{BB962C8B-B14F-4D97-AF65-F5344CB8AC3E}">
        <p14:creationId xmlns:p14="http://schemas.microsoft.com/office/powerpoint/2010/main" val="3632960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7DA7A-3C19-4997-83D3-1C068A4AD3F7}"/>
              </a:ext>
            </a:extLst>
          </p:cNvPr>
          <p:cNvSpPr>
            <a:spLocks noGrp="1"/>
          </p:cNvSpPr>
          <p:nvPr>
            <p:ph type="title"/>
          </p:nvPr>
        </p:nvSpPr>
        <p:spPr>
          <a:xfrm>
            <a:off x="4213911" y="354106"/>
            <a:ext cx="5172137" cy="874643"/>
          </a:xfrm>
        </p:spPr>
        <p:txBody>
          <a:bodyPr/>
          <a:lstStyle/>
          <a:p>
            <a:r>
              <a:rPr lang="en-US" dirty="0"/>
              <a:t>Multimedia Defined</a:t>
            </a:r>
          </a:p>
        </p:txBody>
      </p:sp>
      <p:sp>
        <p:nvSpPr>
          <p:cNvPr id="3" name="Content Placeholder 2">
            <a:extLst>
              <a:ext uri="{FF2B5EF4-FFF2-40B4-BE49-F238E27FC236}">
                <a16:creationId xmlns:a16="http://schemas.microsoft.com/office/drawing/2014/main" id="{43B60068-475E-43E0-8B37-73A3831BB082}"/>
              </a:ext>
            </a:extLst>
          </p:cNvPr>
          <p:cNvSpPr>
            <a:spLocks noGrp="1"/>
          </p:cNvSpPr>
          <p:nvPr>
            <p:ph idx="1"/>
          </p:nvPr>
        </p:nvSpPr>
        <p:spPr>
          <a:xfrm>
            <a:off x="677333" y="1484243"/>
            <a:ext cx="9542432" cy="5145931"/>
          </a:xfrm>
        </p:spPr>
        <p:txBody>
          <a:bodyPr>
            <a:normAutofit/>
          </a:bodyPr>
          <a:lstStyle/>
          <a:p>
            <a:pPr algn="just"/>
            <a:r>
              <a:rPr lang="en-US" sz="3600" dirty="0"/>
              <a:t>The word “multimedia” is composed of two parts; that is, </a:t>
            </a:r>
          </a:p>
          <a:p>
            <a:pPr algn="just"/>
            <a:r>
              <a:rPr lang="en-US" sz="3600" dirty="0"/>
              <a:t>Multi – which means numerous or multiple</a:t>
            </a:r>
          </a:p>
          <a:p>
            <a:pPr algn="just"/>
            <a:r>
              <a:rPr lang="en-US" sz="3600" dirty="0"/>
              <a:t>Media (singular, medium,)</a:t>
            </a:r>
          </a:p>
          <a:p>
            <a:pPr algn="just"/>
            <a:r>
              <a:rPr lang="en-GB" sz="3600" dirty="0">
                <a:effectLst/>
                <a:ea typeface="Calibri" panose="020F0502020204030204" pitchFamily="34" charset="0"/>
              </a:rPr>
              <a:t>In Latin, Medium means “Between”. </a:t>
            </a:r>
          </a:p>
          <a:p>
            <a:pPr algn="just"/>
            <a:r>
              <a:rPr lang="en-GB" sz="3600" dirty="0">
                <a:ea typeface="Calibri" panose="020F0502020204030204" pitchFamily="34" charset="0"/>
              </a:rPr>
              <a:t>Media</a:t>
            </a:r>
            <a:r>
              <a:rPr lang="en-GB" sz="3600" dirty="0">
                <a:effectLst/>
                <a:ea typeface="Calibri" panose="020F0502020204030204" pitchFamily="34" charset="0"/>
              </a:rPr>
              <a:t> refers to anything that carries information between a source and a receiver. </a:t>
            </a:r>
          </a:p>
        </p:txBody>
      </p:sp>
    </p:spTree>
    <p:extLst>
      <p:ext uri="{BB962C8B-B14F-4D97-AF65-F5344CB8AC3E}">
        <p14:creationId xmlns:p14="http://schemas.microsoft.com/office/powerpoint/2010/main" val="1772060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65E4D-1E49-4F9A-AE81-6C40F20C4F2B}"/>
              </a:ext>
            </a:extLst>
          </p:cNvPr>
          <p:cNvSpPr>
            <a:spLocks noGrp="1"/>
          </p:cNvSpPr>
          <p:nvPr>
            <p:ph type="title"/>
          </p:nvPr>
        </p:nvSpPr>
        <p:spPr>
          <a:xfrm>
            <a:off x="4469403" y="366189"/>
            <a:ext cx="4843561" cy="1104802"/>
          </a:xfrm>
        </p:spPr>
        <p:txBody>
          <a:bodyPr>
            <a:normAutofit/>
          </a:bodyPr>
          <a:lstStyle/>
          <a:p>
            <a:r>
              <a:rPr lang="en-US" sz="4400" dirty="0"/>
              <a:t>MULTIMEDIA</a:t>
            </a:r>
          </a:p>
        </p:txBody>
      </p:sp>
      <p:sp>
        <p:nvSpPr>
          <p:cNvPr id="3" name="Content Placeholder 2">
            <a:extLst>
              <a:ext uri="{FF2B5EF4-FFF2-40B4-BE49-F238E27FC236}">
                <a16:creationId xmlns:a16="http://schemas.microsoft.com/office/drawing/2014/main" id="{6BC315E6-F904-4D75-8241-02947AAEDB8B}"/>
              </a:ext>
            </a:extLst>
          </p:cNvPr>
          <p:cNvSpPr>
            <a:spLocks noGrp="1"/>
          </p:cNvSpPr>
          <p:nvPr>
            <p:ph idx="1"/>
          </p:nvPr>
        </p:nvSpPr>
        <p:spPr>
          <a:xfrm>
            <a:off x="677333" y="1470991"/>
            <a:ext cx="9475196" cy="5159183"/>
          </a:xfrm>
        </p:spPr>
        <p:txBody>
          <a:bodyPr>
            <a:normAutofit/>
          </a:bodyPr>
          <a:lstStyle/>
          <a:p>
            <a:pPr algn="just"/>
            <a:r>
              <a:rPr lang="en-GB" sz="4000" dirty="0">
                <a:effectLst/>
                <a:ea typeface="Calibri" panose="020F0502020204030204" pitchFamily="34" charset="0"/>
                <a:cs typeface="Arial" panose="020B0604020202020204" pitchFamily="34" charset="0"/>
              </a:rPr>
              <a:t>Multimedia is use of two or more elements to convey information to and audience. </a:t>
            </a:r>
          </a:p>
          <a:p>
            <a:pPr algn="just"/>
            <a:r>
              <a:rPr lang="en-GB" sz="4000" dirty="0">
                <a:effectLst/>
                <a:ea typeface="Calibri" panose="020F0502020204030204" pitchFamily="34" charset="0"/>
                <a:cs typeface="Arial" panose="020B0604020202020204" pitchFamily="34" charset="0"/>
              </a:rPr>
              <a:t>The elements of multimedia include; audio, video, text, graphics </a:t>
            </a:r>
            <a:r>
              <a:rPr lang="en-GB" sz="4000" dirty="0">
                <a:ea typeface="Calibri" panose="020F0502020204030204" pitchFamily="34" charset="0"/>
                <a:cs typeface="Arial" panose="020B0604020202020204" pitchFamily="34" charset="0"/>
              </a:rPr>
              <a:t>and</a:t>
            </a:r>
            <a:r>
              <a:rPr lang="en-GB" sz="4000" dirty="0">
                <a:effectLst/>
                <a:ea typeface="Calibri" panose="020F0502020204030204" pitchFamily="34" charset="0"/>
                <a:cs typeface="Arial" panose="020B0604020202020204" pitchFamily="34" charset="0"/>
              </a:rPr>
              <a:t> animation. </a:t>
            </a:r>
            <a:endParaRPr lang="en-US" sz="5400" dirty="0"/>
          </a:p>
        </p:txBody>
      </p:sp>
    </p:spTree>
    <p:extLst>
      <p:ext uri="{BB962C8B-B14F-4D97-AF65-F5344CB8AC3E}">
        <p14:creationId xmlns:p14="http://schemas.microsoft.com/office/powerpoint/2010/main" val="3316805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F74AD-170A-4625-BC04-6F40C57EBD26}"/>
              </a:ext>
            </a:extLst>
          </p:cNvPr>
          <p:cNvSpPr>
            <a:spLocks noGrp="1"/>
          </p:cNvSpPr>
          <p:nvPr>
            <p:ph type="title"/>
          </p:nvPr>
        </p:nvSpPr>
        <p:spPr>
          <a:xfrm>
            <a:off x="4259103" y="404190"/>
            <a:ext cx="5750511" cy="834887"/>
          </a:xfrm>
        </p:spPr>
        <p:txBody>
          <a:bodyPr>
            <a:normAutofit fontScale="90000"/>
          </a:bodyPr>
          <a:lstStyle/>
          <a:p>
            <a:r>
              <a:rPr lang="en-US" dirty="0"/>
              <a:t>ELEMENTS OF MULTIMEDIA</a:t>
            </a:r>
          </a:p>
        </p:txBody>
      </p:sp>
      <p:sp>
        <p:nvSpPr>
          <p:cNvPr id="3" name="Content Placeholder 2">
            <a:extLst>
              <a:ext uri="{FF2B5EF4-FFF2-40B4-BE49-F238E27FC236}">
                <a16:creationId xmlns:a16="http://schemas.microsoft.com/office/drawing/2014/main" id="{F8B89FBE-890E-4A7F-BCDF-B9021E320C49}"/>
              </a:ext>
            </a:extLst>
          </p:cNvPr>
          <p:cNvSpPr>
            <a:spLocks noGrp="1"/>
          </p:cNvSpPr>
          <p:nvPr>
            <p:ph idx="1"/>
          </p:nvPr>
        </p:nvSpPr>
        <p:spPr>
          <a:xfrm>
            <a:off x="677334" y="1656523"/>
            <a:ext cx="8596668" cy="4384840"/>
          </a:xfrm>
        </p:spPr>
        <p:txBody>
          <a:bodyPr/>
          <a:lstStyle/>
          <a:p>
            <a:endParaRPr lang="en-US" dirty="0"/>
          </a:p>
        </p:txBody>
      </p:sp>
      <p:pic>
        <p:nvPicPr>
          <p:cNvPr id="10" name="Picture 2" descr="Definition of Multimedia&#10;• Multimedia is a combination of text, graphic,&#10;sound, animation, and video that is delivered&#10;int...">
            <a:extLst>
              <a:ext uri="{FF2B5EF4-FFF2-40B4-BE49-F238E27FC236}">
                <a16:creationId xmlns:a16="http://schemas.microsoft.com/office/drawing/2014/main" id="{3B2DAF7B-9929-43DD-9D9E-4D2938C4532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718" t="53423" r="11217"/>
          <a:stretch/>
        </p:blipFill>
        <p:spPr bwMode="auto">
          <a:xfrm>
            <a:off x="690630" y="1656521"/>
            <a:ext cx="9318984" cy="4174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3481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E5959-8E4E-4256-A29A-CBC82CE0ECBF}"/>
              </a:ext>
            </a:extLst>
          </p:cNvPr>
          <p:cNvSpPr>
            <a:spLocks noGrp="1"/>
          </p:cNvSpPr>
          <p:nvPr>
            <p:ph type="title"/>
          </p:nvPr>
        </p:nvSpPr>
        <p:spPr>
          <a:xfrm>
            <a:off x="4375275" y="367553"/>
            <a:ext cx="3397126" cy="795130"/>
          </a:xfrm>
        </p:spPr>
        <p:txBody>
          <a:bodyPr/>
          <a:lstStyle/>
          <a:p>
            <a:r>
              <a:rPr lang="en-US" dirty="0"/>
              <a:t>TEXT</a:t>
            </a:r>
          </a:p>
        </p:txBody>
      </p:sp>
      <p:sp>
        <p:nvSpPr>
          <p:cNvPr id="3" name="Content Placeholder 2">
            <a:extLst>
              <a:ext uri="{FF2B5EF4-FFF2-40B4-BE49-F238E27FC236}">
                <a16:creationId xmlns:a16="http://schemas.microsoft.com/office/drawing/2014/main" id="{53DF830B-29CD-480D-B495-8D33977F3204}"/>
              </a:ext>
            </a:extLst>
          </p:cNvPr>
          <p:cNvSpPr>
            <a:spLocks noGrp="1"/>
          </p:cNvSpPr>
          <p:nvPr>
            <p:ph idx="1"/>
          </p:nvPr>
        </p:nvSpPr>
        <p:spPr/>
        <p:txBody>
          <a:bodyPr>
            <a:normAutofit/>
          </a:bodyPr>
          <a:lstStyle/>
          <a:p>
            <a:endParaRPr lang="en-US" sz="3200" dirty="0"/>
          </a:p>
        </p:txBody>
      </p:sp>
      <p:pic>
        <p:nvPicPr>
          <p:cNvPr id="7" name="Picture 2" descr="5 Elements of Multimedia&#10;TEXTTEXT&#10;TEXT&#10;AUDIO&#10;GRAPHIC&#10;VIDEO&#10;ANIMATION&#10; A broad term for something that contains words&#10;to e...">
            <a:extLst>
              <a:ext uri="{FF2B5EF4-FFF2-40B4-BE49-F238E27FC236}">
                <a16:creationId xmlns:a16="http://schemas.microsoft.com/office/drawing/2014/main" id="{15252879-8E8B-484B-8E1B-9F0802DB42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007" t="55044" r="9347"/>
          <a:stretch/>
        </p:blipFill>
        <p:spPr bwMode="auto">
          <a:xfrm>
            <a:off x="677334" y="1786509"/>
            <a:ext cx="9732410" cy="38807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1127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3EE2B-CAF3-4CEB-9AE4-1723FE330237}"/>
              </a:ext>
            </a:extLst>
          </p:cNvPr>
          <p:cNvSpPr>
            <a:spLocks noGrp="1"/>
          </p:cNvSpPr>
          <p:nvPr>
            <p:ph type="title"/>
          </p:nvPr>
        </p:nvSpPr>
        <p:spPr>
          <a:xfrm>
            <a:off x="5726716" y="364784"/>
            <a:ext cx="3404032" cy="849889"/>
          </a:xfrm>
        </p:spPr>
        <p:txBody>
          <a:bodyPr/>
          <a:lstStyle/>
          <a:p>
            <a:r>
              <a:rPr lang="en-US" dirty="0"/>
              <a:t>TEXT </a:t>
            </a:r>
          </a:p>
        </p:txBody>
      </p:sp>
      <p:pic>
        <p:nvPicPr>
          <p:cNvPr id="7" name="Content Placeholder 6">
            <a:extLst>
              <a:ext uri="{FF2B5EF4-FFF2-40B4-BE49-F238E27FC236}">
                <a16:creationId xmlns:a16="http://schemas.microsoft.com/office/drawing/2014/main" id="{450A3809-1F40-4DC7-871F-395C3AE0397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1232" y="1425540"/>
            <a:ext cx="8139516" cy="4558129"/>
          </a:xfrm>
        </p:spPr>
      </p:pic>
    </p:spTree>
    <p:extLst>
      <p:ext uri="{BB962C8B-B14F-4D97-AF65-F5344CB8AC3E}">
        <p14:creationId xmlns:p14="http://schemas.microsoft.com/office/powerpoint/2010/main" val="3742534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7A6C9-4D62-4E32-91E1-4C9703DABCC3}"/>
              </a:ext>
            </a:extLst>
          </p:cNvPr>
          <p:cNvSpPr>
            <a:spLocks noGrp="1"/>
          </p:cNvSpPr>
          <p:nvPr>
            <p:ph type="title"/>
          </p:nvPr>
        </p:nvSpPr>
        <p:spPr>
          <a:xfrm>
            <a:off x="4462670" y="227041"/>
            <a:ext cx="4811332" cy="945776"/>
          </a:xfrm>
        </p:spPr>
        <p:txBody>
          <a:bodyPr>
            <a:normAutofit/>
          </a:bodyPr>
          <a:lstStyle/>
          <a:p>
            <a:r>
              <a:rPr lang="en-US" sz="4400" dirty="0"/>
              <a:t>Graphics </a:t>
            </a:r>
          </a:p>
        </p:txBody>
      </p:sp>
      <p:sp>
        <p:nvSpPr>
          <p:cNvPr id="3" name="Content Placeholder 2">
            <a:extLst>
              <a:ext uri="{FF2B5EF4-FFF2-40B4-BE49-F238E27FC236}">
                <a16:creationId xmlns:a16="http://schemas.microsoft.com/office/drawing/2014/main" id="{961F8EB9-9094-41D5-9B83-11BE470E2FA6}"/>
              </a:ext>
            </a:extLst>
          </p:cNvPr>
          <p:cNvSpPr>
            <a:spLocks noGrp="1"/>
          </p:cNvSpPr>
          <p:nvPr>
            <p:ph idx="1"/>
          </p:nvPr>
        </p:nvSpPr>
        <p:spPr>
          <a:xfrm>
            <a:off x="566832" y="1371600"/>
            <a:ext cx="9909011" cy="5620871"/>
          </a:xfrm>
        </p:spPr>
        <p:txBody>
          <a:bodyPr>
            <a:noAutofit/>
          </a:bodyPr>
          <a:lstStyle/>
          <a:p>
            <a:pPr algn="just"/>
            <a:r>
              <a:rPr lang="en-US" sz="3600" dirty="0"/>
              <a:t>Two or three dimensional figure or illustration </a:t>
            </a:r>
          </a:p>
          <a:p>
            <a:pPr algn="just"/>
            <a:r>
              <a:rPr lang="en-US" sz="3600" dirty="0"/>
              <a:t>Could be produced manually (by drawing, painting, carving, </a:t>
            </a:r>
            <a:r>
              <a:rPr lang="en-US" sz="3600" dirty="0" err="1"/>
              <a:t>e.t.c</a:t>
            </a:r>
            <a:r>
              <a:rPr lang="en-US" sz="3600" dirty="0"/>
              <a:t>.) or by computer graphics technology</a:t>
            </a:r>
          </a:p>
          <a:p>
            <a:pPr algn="just"/>
            <a:r>
              <a:rPr lang="en-US" sz="3600" dirty="0"/>
              <a:t>Examples are photographs, drawings, Line art, graphs, diagrams, typography, numbers, symbols, geometric designs, maps, engineering drawings, or other images. </a:t>
            </a:r>
          </a:p>
        </p:txBody>
      </p:sp>
    </p:spTree>
    <p:extLst>
      <p:ext uri="{BB962C8B-B14F-4D97-AF65-F5344CB8AC3E}">
        <p14:creationId xmlns:p14="http://schemas.microsoft.com/office/powerpoint/2010/main" val="3377662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AFD170-38AD-4410-99DA-6C57C5E8E211}"/>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55D0CACF-4A73-49B6-90A1-E32DA59D01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62701" y="1698365"/>
            <a:ext cx="4620972" cy="3461269"/>
          </a:xfrm>
          <a:prstGeom prst="rect">
            <a:avLst/>
          </a:prstGeom>
        </p:spPr>
      </p:pic>
      <p:pic>
        <p:nvPicPr>
          <p:cNvPr id="1026" name="Picture 2" descr="50,000+ Image Pictures | Download Free ...">
            <a:extLst>
              <a:ext uri="{FF2B5EF4-FFF2-40B4-BE49-F238E27FC236}">
                <a16:creationId xmlns:a16="http://schemas.microsoft.com/office/drawing/2014/main" id="{38CDB687-7497-3D7C-3F7C-E770593B1E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642" y="1698365"/>
            <a:ext cx="5201361" cy="34612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2451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F1644-E7D6-4E6B-AF02-5C3803D29189}"/>
              </a:ext>
            </a:extLst>
          </p:cNvPr>
          <p:cNvSpPr>
            <a:spLocks noGrp="1"/>
          </p:cNvSpPr>
          <p:nvPr>
            <p:ph type="title"/>
          </p:nvPr>
        </p:nvSpPr>
        <p:spPr>
          <a:xfrm>
            <a:off x="4778687" y="503582"/>
            <a:ext cx="3639172" cy="781878"/>
          </a:xfrm>
        </p:spPr>
        <p:txBody>
          <a:bodyPr/>
          <a:lstStyle/>
          <a:p>
            <a:r>
              <a:rPr lang="en-US" dirty="0"/>
              <a:t>Audio</a:t>
            </a:r>
          </a:p>
        </p:txBody>
      </p:sp>
      <p:sp>
        <p:nvSpPr>
          <p:cNvPr id="3" name="Content Placeholder 2">
            <a:extLst>
              <a:ext uri="{FF2B5EF4-FFF2-40B4-BE49-F238E27FC236}">
                <a16:creationId xmlns:a16="http://schemas.microsoft.com/office/drawing/2014/main" id="{A50B095B-8218-4C83-A413-6EF9B4BE1532}"/>
              </a:ext>
            </a:extLst>
          </p:cNvPr>
          <p:cNvSpPr>
            <a:spLocks noGrp="1"/>
          </p:cNvSpPr>
          <p:nvPr>
            <p:ph idx="1"/>
          </p:nvPr>
        </p:nvSpPr>
        <p:spPr>
          <a:xfrm>
            <a:off x="744568" y="1514060"/>
            <a:ext cx="9461749" cy="5572539"/>
          </a:xfrm>
        </p:spPr>
        <p:txBody>
          <a:bodyPr>
            <a:normAutofit/>
          </a:bodyPr>
          <a:lstStyle/>
          <a:p>
            <a:pPr algn="just"/>
            <a:r>
              <a:rPr lang="en-US" sz="3600" dirty="0"/>
              <a:t>A multimedia application may require the use of speech, music and sound effects. </a:t>
            </a:r>
          </a:p>
          <a:p>
            <a:pPr algn="just"/>
            <a:r>
              <a:rPr lang="en-US" sz="3600" dirty="0"/>
              <a:t>These are called audio or sound element of multimedia. Speech is also a perfect way for teaching. </a:t>
            </a:r>
          </a:p>
          <a:p>
            <a:pPr algn="just"/>
            <a:r>
              <a:rPr lang="en-US" sz="3600" dirty="0"/>
              <a:t>Audio are of analog and digital types. Analog audio or sound refers to the original sound signal. Computer stores the sound in digital form. </a:t>
            </a:r>
          </a:p>
        </p:txBody>
      </p:sp>
    </p:spTree>
    <p:extLst>
      <p:ext uri="{BB962C8B-B14F-4D97-AF65-F5344CB8AC3E}">
        <p14:creationId xmlns:p14="http://schemas.microsoft.com/office/powerpoint/2010/main" val="2181624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001C80-8201-4AB3-BF72-398EAEE1723E}"/>
              </a:ext>
            </a:extLst>
          </p:cNvPr>
          <p:cNvSpPr>
            <a:spLocks noGrp="1"/>
          </p:cNvSpPr>
          <p:nvPr>
            <p:ph idx="1"/>
          </p:nvPr>
        </p:nvSpPr>
        <p:spPr/>
        <p:txBody>
          <a:bodyPr/>
          <a:lstStyle/>
          <a:p>
            <a:endParaRPr lang="en-US" dirty="0"/>
          </a:p>
        </p:txBody>
      </p:sp>
      <p:pic>
        <p:nvPicPr>
          <p:cNvPr id="8" name="Content Placeholder 6">
            <a:extLst>
              <a:ext uri="{FF2B5EF4-FFF2-40B4-BE49-F238E27FC236}">
                <a16:creationId xmlns:a16="http://schemas.microsoft.com/office/drawing/2014/main" id="{CC708322-FA00-4506-8C5D-207820E434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010" y="1587950"/>
            <a:ext cx="4480015" cy="2838276"/>
          </a:xfrm>
          <a:prstGeom prst="rect">
            <a:avLst/>
          </a:prstGeom>
        </p:spPr>
      </p:pic>
      <p:pic>
        <p:nvPicPr>
          <p:cNvPr id="9" name="Picture 8">
            <a:extLst>
              <a:ext uri="{FF2B5EF4-FFF2-40B4-BE49-F238E27FC236}">
                <a16:creationId xmlns:a16="http://schemas.microsoft.com/office/drawing/2014/main" id="{55FCDA27-72CE-4320-B3C2-31D75C11A9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0758" y="1587950"/>
            <a:ext cx="4979568" cy="2827708"/>
          </a:xfrm>
          <a:prstGeom prst="rect">
            <a:avLst/>
          </a:prstGeom>
        </p:spPr>
      </p:pic>
    </p:spTree>
    <p:extLst>
      <p:ext uri="{BB962C8B-B14F-4D97-AF65-F5344CB8AC3E}">
        <p14:creationId xmlns:p14="http://schemas.microsoft.com/office/powerpoint/2010/main" val="104139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7BEE8-7B45-45BC-A9DD-733C96756E6C}"/>
              </a:ext>
            </a:extLst>
          </p:cNvPr>
          <p:cNvSpPr>
            <a:spLocks noGrp="1"/>
          </p:cNvSpPr>
          <p:nvPr>
            <p:ph type="title"/>
          </p:nvPr>
        </p:nvSpPr>
        <p:spPr>
          <a:xfrm>
            <a:off x="4845922" y="340659"/>
            <a:ext cx="2926478" cy="954157"/>
          </a:xfrm>
        </p:spPr>
        <p:txBody>
          <a:bodyPr/>
          <a:lstStyle/>
          <a:p>
            <a:r>
              <a:rPr lang="en-US" dirty="0"/>
              <a:t>VIDEO</a:t>
            </a:r>
          </a:p>
        </p:txBody>
      </p:sp>
      <p:sp>
        <p:nvSpPr>
          <p:cNvPr id="3" name="Content Placeholder 2">
            <a:extLst>
              <a:ext uri="{FF2B5EF4-FFF2-40B4-BE49-F238E27FC236}">
                <a16:creationId xmlns:a16="http://schemas.microsoft.com/office/drawing/2014/main" id="{D035ECB4-F40B-45C0-8555-77FB259E64F6}"/>
              </a:ext>
            </a:extLst>
          </p:cNvPr>
          <p:cNvSpPr>
            <a:spLocks noGrp="1"/>
          </p:cNvSpPr>
          <p:nvPr>
            <p:ph idx="1"/>
          </p:nvPr>
        </p:nvSpPr>
        <p:spPr/>
        <p:txBody>
          <a:bodyPr>
            <a:normAutofit/>
          </a:bodyPr>
          <a:lstStyle/>
          <a:p>
            <a:endParaRPr lang="en-US" sz="3200" dirty="0"/>
          </a:p>
        </p:txBody>
      </p:sp>
      <p:pic>
        <p:nvPicPr>
          <p:cNvPr id="7" name="Picture 2" descr="VIDEOVIDEO&#10;TEXT&#10;AUDIO&#10;GRAPHIC&#10;VIDEO&#10;ANIMATION&#10; Is the technology of capturing, recording, processing,&#10;transmitting, and r...">
            <a:extLst>
              <a:ext uri="{FF2B5EF4-FFF2-40B4-BE49-F238E27FC236}">
                <a16:creationId xmlns:a16="http://schemas.microsoft.com/office/drawing/2014/main" id="{97714295-E78B-4ACB-AD17-4669E3C38D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516" t="49370" r="2632"/>
          <a:stretch/>
        </p:blipFill>
        <p:spPr bwMode="auto">
          <a:xfrm>
            <a:off x="677334" y="1665936"/>
            <a:ext cx="9612802" cy="4375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2112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7BF6C6-D365-432E-A390-1098B00FEF5F}"/>
              </a:ext>
            </a:extLst>
          </p:cNvPr>
          <p:cNvSpPr>
            <a:spLocks noGrp="1"/>
          </p:cNvSpPr>
          <p:nvPr>
            <p:ph idx="1"/>
          </p:nvPr>
        </p:nvSpPr>
        <p:spPr/>
        <p:txBody>
          <a:bodyPr>
            <a:normAutofit/>
          </a:bodyPr>
          <a:lstStyle/>
          <a:p>
            <a:endParaRPr lang="en-US" sz="3200" dirty="0"/>
          </a:p>
        </p:txBody>
      </p:sp>
      <p:pic>
        <p:nvPicPr>
          <p:cNvPr id="7" name="Content Placeholder 6">
            <a:extLst>
              <a:ext uri="{FF2B5EF4-FFF2-40B4-BE49-F238E27FC236}">
                <a16:creationId xmlns:a16="http://schemas.microsoft.com/office/drawing/2014/main" id="{6496E804-CA05-4326-9BCC-8D4F29F290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2160589"/>
            <a:ext cx="5490857" cy="3153533"/>
          </a:xfrm>
          <a:prstGeom prst="rect">
            <a:avLst/>
          </a:prstGeom>
        </p:spPr>
      </p:pic>
      <p:pic>
        <p:nvPicPr>
          <p:cNvPr id="8" name="Picture 7">
            <a:extLst>
              <a:ext uri="{FF2B5EF4-FFF2-40B4-BE49-F238E27FC236}">
                <a16:creationId xmlns:a16="http://schemas.microsoft.com/office/drawing/2014/main" id="{BE308B23-3860-43FC-B2DF-ECC6535C35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61798" y="1795464"/>
            <a:ext cx="3944467" cy="3944467"/>
          </a:xfrm>
          <a:prstGeom prst="rect">
            <a:avLst/>
          </a:prstGeom>
        </p:spPr>
      </p:pic>
    </p:spTree>
    <p:extLst>
      <p:ext uri="{BB962C8B-B14F-4D97-AF65-F5344CB8AC3E}">
        <p14:creationId xmlns:p14="http://schemas.microsoft.com/office/powerpoint/2010/main" val="2989948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1DFC3-C256-4704-9815-336DE623AF2C}"/>
              </a:ext>
            </a:extLst>
          </p:cNvPr>
          <p:cNvSpPr>
            <a:spLocks noGrp="1"/>
          </p:cNvSpPr>
          <p:nvPr>
            <p:ph type="title"/>
          </p:nvPr>
        </p:nvSpPr>
        <p:spPr>
          <a:xfrm>
            <a:off x="4805581" y="347482"/>
            <a:ext cx="3975348" cy="886599"/>
          </a:xfrm>
        </p:spPr>
        <p:txBody>
          <a:bodyPr/>
          <a:lstStyle/>
          <a:p>
            <a:r>
              <a:rPr lang="en-US" dirty="0"/>
              <a:t>ANIMATIONS</a:t>
            </a:r>
          </a:p>
        </p:txBody>
      </p:sp>
      <p:sp>
        <p:nvSpPr>
          <p:cNvPr id="3" name="Content Placeholder 2">
            <a:extLst>
              <a:ext uri="{FF2B5EF4-FFF2-40B4-BE49-F238E27FC236}">
                <a16:creationId xmlns:a16="http://schemas.microsoft.com/office/drawing/2014/main" id="{2841AD2F-AF81-42BE-9C0B-8746EC384D1D}"/>
              </a:ext>
            </a:extLst>
          </p:cNvPr>
          <p:cNvSpPr>
            <a:spLocks noGrp="1"/>
          </p:cNvSpPr>
          <p:nvPr>
            <p:ph idx="1"/>
          </p:nvPr>
        </p:nvSpPr>
        <p:spPr>
          <a:xfrm>
            <a:off x="677334" y="1616765"/>
            <a:ext cx="8596668" cy="4424597"/>
          </a:xfrm>
        </p:spPr>
        <p:txBody>
          <a:bodyPr>
            <a:normAutofit/>
          </a:bodyPr>
          <a:lstStyle/>
          <a:p>
            <a:endParaRPr lang="en-US" sz="2000" dirty="0"/>
          </a:p>
        </p:txBody>
      </p:sp>
      <p:pic>
        <p:nvPicPr>
          <p:cNvPr id="7" name="Picture 2" descr="ANIMATIONANIMATION&#10;TEXT&#10;AUDIO&#10;GRAPHIC&#10;VIDEO&#10;ANIMATION&#10; The illusion of motion created by the consecutive&#10;display of image...">
            <a:extLst>
              <a:ext uri="{FF2B5EF4-FFF2-40B4-BE49-F238E27FC236}">
                <a16:creationId xmlns:a16="http://schemas.microsoft.com/office/drawing/2014/main" id="{66F42051-03E4-4547-A2B2-3AED84DA5FD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081" t="50861" r="8560" b="7144"/>
          <a:stretch/>
        </p:blipFill>
        <p:spPr bwMode="auto">
          <a:xfrm>
            <a:off x="641521" y="1616766"/>
            <a:ext cx="10440451" cy="4041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9130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5B8C6-62BB-4277-BC3C-4A4C3D44E9C7}"/>
              </a:ext>
            </a:extLst>
          </p:cNvPr>
          <p:cNvSpPr>
            <a:spLocks noGrp="1"/>
          </p:cNvSpPr>
          <p:nvPr>
            <p:ph type="title"/>
          </p:nvPr>
        </p:nvSpPr>
        <p:spPr>
          <a:xfrm>
            <a:off x="4039098" y="381000"/>
            <a:ext cx="6086537" cy="1007165"/>
          </a:xfrm>
        </p:spPr>
        <p:txBody>
          <a:bodyPr>
            <a:normAutofit fontScale="90000"/>
          </a:bodyPr>
          <a:lstStyle/>
          <a:p>
            <a:r>
              <a:rPr lang="en-US" dirty="0"/>
              <a:t>MASS MEDIA VS. MULTIMEDIA</a:t>
            </a:r>
          </a:p>
        </p:txBody>
      </p:sp>
      <p:sp>
        <p:nvSpPr>
          <p:cNvPr id="3" name="Content Placeholder 2">
            <a:extLst>
              <a:ext uri="{FF2B5EF4-FFF2-40B4-BE49-F238E27FC236}">
                <a16:creationId xmlns:a16="http://schemas.microsoft.com/office/drawing/2014/main" id="{6197BD20-74B3-40A0-90F9-97775154D6B2}"/>
              </a:ext>
            </a:extLst>
          </p:cNvPr>
          <p:cNvSpPr>
            <a:spLocks noGrp="1"/>
          </p:cNvSpPr>
          <p:nvPr>
            <p:ph idx="1"/>
          </p:nvPr>
        </p:nvSpPr>
        <p:spPr>
          <a:xfrm>
            <a:off x="677333" y="1519518"/>
            <a:ext cx="9824819" cy="5338481"/>
          </a:xfrm>
        </p:spPr>
        <p:txBody>
          <a:bodyPr>
            <a:noAutofit/>
          </a:bodyPr>
          <a:lstStyle/>
          <a:p>
            <a:pPr algn="just"/>
            <a:r>
              <a:rPr lang="en-US" sz="3600" dirty="0"/>
              <a:t>Mass media is communication that is to a large group, or groups, of people in a short time. </a:t>
            </a:r>
          </a:p>
          <a:p>
            <a:pPr algn="just"/>
            <a:r>
              <a:rPr lang="en-US" sz="3600" dirty="0"/>
              <a:t>This can be written, spoken or broadcast communication. </a:t>
            </a:r>
          </a:p>
          <a:p>
            <a:pPr algn="just"/>
            <a:r>
              <a:rPr lang="en-US" sz="3600" dirty="0"/>
              <a:t>Some of the most popular forms of mass media are newspapers, magazines, radio, social media, television, Internet, and films/movies. </a:t>
            </a:r>
          </a:p>
          <a:p>
            <a:endParaRPr lang="en-US" sz="3600" dirty="0"/>
          </a:p>
        </p:txBody>
      </p:sp>
    </p:spTree>
    <p:extLst>
      <p:ext uri="{BB962C8B-B14F-4D97-AF65-F5344CB8AC3E}">
        <p14:creationId xmlns:p14="http://schemas.microsoft.com/office/powerpoint/2010/main" val="1579365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889FC-D600-4B03-A785-99E491957B91}"/>
              </a:ext>
            </a:extLst>
          </p:cNvPr>
          <p:cNvSpPr>
            <a:spLocks noGrp="1"/>
          </p:cNvSpPr>
          <p:nvPr>
            <p:ph type="title"/>
          </p:nvPr>
        </p:nvSpPr>
        <p:spPr>
          <a:xfrm>
            <a:off x="3945835" y="85126"/>
            <a:ext cx="6827581" cy="1336938"/>
          </a:xfrm>
        </p:spPr>
        <p:txBody>
          <a:bodyPr>
            <a:normAutofit fontScale="90000"/>
          </a:bodyPr>
          <a:lstStyle/>
          <a:p>
            <a:r>
              <a:rPr lang="en-GB" sz="4400" b="1" dirty="0"/>
              <a:t>Use of multimedia in education</a:t>
            </a:r>
          </a:p>
        </p:txBody>
      </p:sp>
      <p:pic>
        <p:nvPicPr>
          <p:cNvPr id="4" name="Why Do We Want to Use Multimedia for Teaching">
            <a:hlinkClick r:id="" action="ppaction://media"/>
            <a:extLst>
              <a:ext uri="{FF2B5EF4-FFF2-40B4-BE49-F238E27FC236}">
                <a16:creationId xmlns:a16="http://schemas.microsoft.com/office/drawing/2014/main" id="{5B304A3A-D4FD-498E-AA58-CE95FB910C48}"/>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125313" y="1670542"/>
            <a:ext cx="8045450" cy="4525963"/>
          </a:xfrm>
        </p:spPr>
      </p:pic>
    </p:spTree>
    <p:extLst>
      <p:ext uri="{BB962C8B-B14F-4D97-AF65-F5344CB8AC3E}">
        <p14:creationId xmlns:p14="http://schemas.microsoft.com/office/powerpoint/2010/main" val="94632807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474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1690" y="140398"/>
            <a:ext cx="3971983" cy="817265"/>
          </a:xfrm>
        </p:spPr>
        <p:txBody>
          <a:bodyPr>
            <a:normAutofit/>
          </a:bodyPr>
          <a:lstStyle/>
          <a:p>
            <a:r>
              <a:rPr lang="en-GB" sz="4400" b="1" dirty="0"/>
              <a:t>Discussion</a:t>
            </a:r>
          </a:p>
        </p:txBody>
      </p:sp>
      <p:sp>
        <p:nvSpPr>
          <p:cNvPr id="3" name="Content Placeholder 2"/>
          <p:cNvSpPr>
            <a:spLocks noGrp="1"/>
          </p:cNvSpPr>
          <p:nvPr>
            <p:ph idx="1"/>
          </p:nvPr>
        </p:nvSpPr>
        <p:spPr>
          <a:xfrm>
            <a:off x="1033604" y="1401008"/>
            <a:ext cx="9218760" cy="3789165"/>
          </a:xfrm>
        </p:spPr>
        <p:txBody>
          <a:bodyPr>
            <a:normAutofit/>
          </a:bodyPr>
          <a:lstStyle/>
          <a:p>
            <a:pPr algn="just"/>
            <a:r>
              <a:rPr lang="en-GB" sz="3200" dirty="0"/>
              <a:t>From the video, why is there the need for the use of Multimedia in teaching and learning?</a:t>
            </a:r>
          </a:p>
          <a:p>
            <a:pPr algn="just"/>
            <a:r>
              <a:rPr lang="en-GB" sz="3200" dirty="0"/>
              <a:t>What factors should be considered when integration Multimedia in class?</a:t>
            </a:r>
          </a:p>
          <a:p>
            <a:r>
              <a:rPr lang="en-GB" sz="3200" dirty="0"/>
              <a:t>What are the challenges to the effective use of Multimedia in education?</a:t>
            </a:r>
          </a:p>
          <a:p>
            <a:endParaRPr lang="en-GB" sz="32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8585" y="4746828"/>
            <a:ext cx="2231453" cy="2223732"/>
          </a:xfrm>
          <a:prstGeom prst="rect">
            <a:avLst/>
          </a:prstGeom>
        </p:spPr>
      </p:pic>
    </p:spTree>
    <p:extLst>
      <p:ext uri="{BB962C8B-B14F-4D97-AF65-F5344CB8AC3E}">
        <p14:creationId xmlns:p14="http://schemas.microsoft.com/office/powerpoint/2010/main" val="4538007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74716" y="96982"/>
            <a:ext cx="5523244" cy="1468582"/>
          </a:xfrm>
        </p:spPr>
        <p:txBody>
          <a:bodyPr>
            <a:normAutofit/>
          </a:bodyPr>
          <a:lstStyle/>
          <a:p>
            <a:pPr algn="ctr"/>
            <a:r>
              <a:rPr lang="en-GB" sz="4400" b="1" dirty="0"/>
              <a:t>Why multimedia in education?</a:t>
            </a:r>
          </a:p>
        </p:txBody>
      </p:sp>
      <p:sp>
        <p:nvSpPr>
          <p:cNvPr id="3" name="Content Placeholder 2"/>
          <p:cNvSpPr>
            <a:spLocks noGrp="1"/>
          </p:cNvSpPr>
          <p:nvPr>
            <p:ph sz="quarter" idx="1"/>
          </p:nvPr>
        </p:nvSpPr>
        <p:spPr>
          <a:xfrm>
            <a:off x="579120" y="1787409"/>
            <a:ext cx="10444480" cy="4973609"/>
          </a:xfrm>
        </p:spPr>
        <p:txBody>
          <a:bodyPr>
            <a:noAutofit/>
          </a:bodyPr>
          <a:lstStyle/>
          <a:p>
            <a:pPr lvl="1" algn="just"/>
            <a:r>
              <a:rPr lang="en-US" sz="4000" dirty="0"/>
              <a:t>Multimedia is used to capture attention,</a:t>
            </a:r>
          </a:p>
          <a:p>
            <a:pPr lvl="1" algn="just"/>
            <a:r>
              <a:rPr lang="en-US" sz="4000" dirty="0"/>
              <a:t>Engage learners, </a:t>
            </a:r>
          </a:p>
          <a:p>
            <a:pPr lvl="1" algn="just"/>
            <a:r>
              <a:rPr lang="en-US" sz="4000" dirty="0"/>
              <a:t>Explain difficult concepts, </a:t>
            </a:r>
          </a:p>
          <a:p>
            <a:pPr lvl="1" algn="just"/>
            <a:r>
              <a:rPr lang="en-US" sz="4000" dirty="0"/>
              <a:t>Inspire creativity and have fun</a:t>
            </a:r>
          </a:p>
          <a:p>
            <a:pPr lvl="1" algn="just"/>
            <a:r>
              <a:rPr lang="en-US" sz="4000" dirty="0"/>
              <a:t>Encourages deep reflective thinking and provides valuable learning opportunities</a:t>
            </a:r>
          </a:p>
        </p:txBody>
      </p:sp>
    </p:spTree>
    <p:extLst>
      <p:ext uri="{BB962C8B-B14F-4D97-AF65-F5344CB8AC3E}">
        <p14:creationId xmlns:p14="http://schemas.microsoft.com/office/powerpoint/2010/main" val="211760099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55F4E-B502-46F1-9D25-CFD51C8AA398}"/>
              </a:ext>
            </a:extLst>
          </p:cNvPr>
          <p:cNvSpPr>
            <a:spLocks noGrp="1"/>
          </p:cNvSpPr>
          <p:nvPr>
            <p:ph type="title"/>
          </p:nvPr>
        </p:nvSpPr>
        <p:spPr>
          <a:xfrm>
            <a:off x="1175402" y="1523553"/>
            <a:ext cx="4920598" cy="873283"/>
          </a:xfrm>
        </p:spPr>
        <p:txBody>
          <a:bodyPr>
            <a:normAutofit/>
          </a:bodyPr>
          <a:lstStyle/>
          <a:p>
            <a:pPr algn="just"/>
            <a:r>
              <a:rPr lang="en-GB" sz="4000" b="1" dirty="0"/>
              <a:t>Why multimedia?</a:t>
            </a:r>
            <a:endParaRPr lang="en-US" sz="4000" b="1" dirty="0"/>
          </a:p>
        </p:txBody>
      </p:sp>
      <p:sp>
        <p:nvSpPr>
          <p:cNvPr id="3" name="Content Placeholder 2">
            <a:extLst>
              <a:ext uri="{FF2B5EF4-FFF2-40B4-BE49-F238E27FC236}">
                <a16:creationId xmlns:a16="http://schemas.microsoft.com/office/drawing/2014/main" id="{29F69DE0-B471-46F8-90A7-252631A58FC2}"/>
              </a:ext>
            </a:extLst>
          </p:cNvPr>
          <p:cNvSpPr>
            <a:spLocks noGrp="1"/>
          </p:cNvSpPr>
          <p:nvPr>
            <p:ph idx="1"/>
          </p:nvPr>
        </p:nvSpPr>
        <p:spPr>
          <a:xfrm>
            <a:off x="701040" y="2722880"/>
            <a:ext cx="6227905" cy="3972560"/>
          </a:xfrm>
        </p:spPr>
        <p:txBody>
          <a:bodyPr>
            <a:normAutofit/>
          </a:bodyPr>
          <a:lstStyle/>
          <a:p>
            <a:pPr lvl="1"/>
            <a:r>
              <a:rPr lang="en-US" sz="4800" dirty="0"/>
              <a:t>Caters for all types of learning</a:t>
            </a:r>
          </a:p>
        </p:txBody>
      </p:sp>
      <p:pic>
        <p:nvPicPr>
          <p:cNvPr id="1028" name="Picture 4" descr="Image result for different types of learners">
            <a:extLst>
              <a:ext uri="{FF2B5EF4-FFF2-40B4-BE49-F238E27FC236}">
                <a16:creationId xmlns:a16="http://schemas.microsoft.com/office/drawing/2014/main" id="{8F15B32D-76CB-43D3-B144-22271464D9D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 b="1990"/>
          <a:stretch/>
        </p:blipFill>
        <p:spPr bwMode="auto">
          <a:xfrm>
            <a:off x="6829728" y="27394"/>
            <a:ext cx="5375919" cy="6857990"/>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114533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 calcmode="lin" valueType="num">
                                      <p:cBhvr additive="base">
                                        <p:cTn id="7" dur="500" fill="hold"/>
                                        <p:tgtEl>
                                          <p:spTgt spid="1028"/>
                                        </p:tgtEl>
                                        <p:attrNameLst>
                                          <p:attrName>ppt_x</p:attrName>
                                        </p:attrNameLst>
                                      </p:cBhvr>
                                      <p:tavLst>
                                        <p:tav tm="0">
                                          <p:val>
                                            <p:strVal val="#ppt_x"/>
                                          </p:val>
                                        </p:tav>
                                        <p:tav tm="100000">
                                          <p:val>
                                            <p:strVal val="#ppt_x"/>
                                          </p:val>
                                        </p:tav>
                                      </p:tavLst>
                                    </p:anim>
                                    <p:anim calcmode="lin" valueType="num">
                                      <p:cBhvr additive="base">
                                        <p:cTn id="8" dur="500" fill="hold"/>
                                        <p:tgtEl>
                                          <p:spTgt spid="10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27960-6007-469E-974F-ADB36D5779BF}"/>
              </a:ext>
            </a:extLst>
          </p:cNvPr>
          <p:cNvSpPr>
            <a:spLocks noGrp="1"/>
          </p:cNvSpPr>
          <p:nvPr>
            <p:ph type="title"/>
          </p:nvPr>
        </p:nvSpPr>
        <p:spPr>
          <a:xfrm>
            <a:off x="4634372" y="286031"/>
            <a:ext cx="3678356" cy="879987"/>
          </a:xfrm>
        </p:spPr>
        <p:txBody>
          <a:bodyPr>
            <a:normAutofit/>
          </a:bodyPr>
          <a:lstStyle/>
          <a:p>
            <a:r>
              <a:rPr lang="en-GB" sz="4400" b="1" dirty="0"/>
              <a:t>Challenges</a:t>
            </a:r>
          </a:p>
        </p:txBody>
      </p:sp>
      <p:sp>
        <p:nvSpPr>
          <p:cNvPr id="3" name="Content Placeholder 2">
            <a:extLst>
              <a:ext uri="{FF2B5EF4-FFF2-40B4-BE49-F238E27FC236}">
                <a16:creationId xmlns:a16="http://schemas.microsoft.com/office/drawing/2014/main" id="{A0B546B0-BF0E-46FB-8408-42126BDED043}"/>
              </a:ext>
            </a:extLst>
          </p:cNvPr>
          <p:cNvSpPr>
            <a:spLocks noGrp="1"/>
          </p:cNvSpPr>
          <p:nvPr>
            <p:ph idx="1"/>
          </p:nvPr>
        </p:nvSpPr>
        <p:spPr>
          <a:xfrm>
            <a:off x="588844" y="1454728"/>
            <a:ext cx="10245411" cy="5403272"/>
          </a:xfrm>
        </p:spPr>
        <p:txBody>
          <a:bodyPr>
            <a:noAutofit/>
          </a:bodyPr>
          <a:lstStyle/>
          <a:p>
            <a:r>
              <a:rPr lang="en-GB" sz="3600" dirty="0"/>
              <a:t>Individual: teacher-level barriers</a:t>
            </a:r>
          </a:p>
          <a:p>
            <a:pPr lvl="1"/>
            <a:r>
              <a:rPr lang="en-GB" sz="3600" dirty="0"/>
              <a:t>inadequate time, </a:t>
            </a:r>
          </a:p>
          <a:p>
            <a:pPr lvl="1"/>
            <a:r>
              <a:rPr lang="en-GB" sz="3600" dirty="0"/>
              <a:t>lack of confidence, </a:t>
            </a:r>
          </a:p>
          <a:p>
            <a:pPr lvl="1"/>
            <a:r>
              <a:rPr lang="en-GB" sz="3600" dirty="0"/>
              <a:t>resistance to change </a:t>
            </a:r>
          </a:p>
          <a:p>
            <a:r>
              <a:rPr lang="en-GB" sz="3600" dirty="0"/>
              <a:t>Institutional: school-level barriers </a:t>
            </a:r>
          </a:p>
          <a:p>
            <a:pPr lvl="1"/>
            <a:r>
              <a:rPr lang="en-GB" sz="3600" dirty="0"/>
              <a:t>lack of effective training in solving technical problems </a:t>
            </a:r>
          </a:p>
          <a:p>
            <a:pPr lvl="1"/>
            <a:r>
              <a:rPr lang="en-GB" sz="3600" dirty="0"/>
              <a:t>lack of access to resources</a:t>
            </a:r>
          </a:p>
          <a:p>
            <a:endParaRPr lang="en-GB" sz="3600" dirty="0"/>
          </a:p>
        </p:txBody>
      </p:sp>
    </p:spTree>
    <p:extLst>
      <p:ext uri="{BB962C8B-B14F-4D97-AF65-F5344CB8AC3E}">
        <p14:creationId xmlns:p14="http://schemas.microsoft.com/office/powerpoint/2010/main" val="208099481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idx="1"/>
          </p:nvPr>
        </p:nvSpPr>
        <p:spPr>
          <a:xfrm>
            <a:off x="854316" y="2226699"/>
            <a:ext cx="8596668" cy="2335141"/>
          </a:xfrm>
        </p:spPr>
        <p:txBody>
          <a:bodyPr>
            <a:normAutofit/>
          </a:bodyPr>
          <a:lstStyle/>
          <a:p>
            <a:pPr algn="ctr"/>
            <a:r>
              <a:rPr lang="en-GB" sz="6000" b="1" dirty="0">
                <a:solidFill>
                  <a:schemeClr val="tx1"/>
                </a:solidFill>
                <a:latin typeface="Berlin Sans FB Demi" panose="020E0802020502020306" pitchFamily="34" charset="0"/>
              </a:rPr>
              <a:t>Finding Multimedia Resources</a:t>
            </a:r>
            <a:endParaRPr lang="en-US" sz="6000" b="1" dirty="0">
              <a:solidFill>
                <a:schemeClr val="tx1"/>
              </a:solidFill>
            </a:endParaRPr>
          </a:p>
        </p:txBody>
      </p:sp>
    </p:spTree>
    <p:extLst>
      <p:ext uri="{BB962C8B-B14F-4D97-AF65-F5344CB8AC3E}">
        <p14:creationId xmlns:p14="http://schemas.microsoft.com/office/powerpoint/2010/main" val="2826889324"/>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8189" y="312736"/>
            <a:ext cx="5555521" cy="1388072"/>
          </a:xfrm>
        </p:spPr>
        <p:txBody>
          <a:bodyPr>
            <a:normAutofit/>
          </a:bodyPr>
          <a:lstStyle/>
          <a:p>
            <a:pPr algn="ctr"/>
            <a:r>
              <a:rPr lang="en-US" b="1" dirty="0">
                <a:cs typeface="Arial" pitchFamily="34" charset="0"/>
              </a:rPr>
              <a:t>Downloading Multimedia From the Web</a:t>
            </a:r>
            <a:endParaRPr lang="en-GB" b="1" dirty="0"/>
          </a:p>
        </p:txBody>
      </p:sp>
      <p:sp>
        <p:nvSpPr>
          <p:cNvPr id="3" name="Content Placeholder 2"/>
          <p:cNvSpPr>
            <a:spLocks noGrp="1"/>
          </p:cNvSpPr>
          <p:nvPr>
            <p:ph idx="1"/>
          </p:nvPr>
        </p:nvSpPr>
        <p:spPr>
          <a:xfrm>
            <a:off x="670248" y="1700808"/>
            <a:ext cx="9263462" cy="4425356"/>
          </a:xfrm>
        </p:spPr>
        <p:txBody>
          <a:bodyPr>
            <a:normAutofit/>
          </a:bodyPr>
          <a:lstStyle/>
          <a:p>
            <a:r>
              <a:rPr lang="en-GB" sz="3200" dirty="0"/>
              <a:t>Downloading using Google Images</a:t>
            </a:r>
          </a:p>
          <a:p>
            <a:pPr lvl="1"/>
            <a:r>
              <a:rPr lang="en-GB" sz="3200" dirty="0"/>
              <a:t>Use “advance search” </a:t>
            </a:r>
            <a:r>
              <a:rPr lang="en-GB" sz="3200" dirty="0" err="1"/>
              <a:t>etc</a:t>
            </a:r>
            <a:r>
              <a:rPr lang="en-GB" sz="3200" dirty="0"/>
              <a:t> to improve images searches</a:t>
            </a:r>
          </a:p>
          <a:p>
            <a:pPr lvl="1"/>
            <a:r>
              <a:rPr lang="en-GB" sz="3200" dirty="0"/>
              <a:t>Size, type, colour, source, etc</a:t>
            </a:r>
          </a:p>
          <a:p>
            <a:pPr lvl="1"/>
            <a:endParaRPr lang="en-GB" sz="3200" dirty="0"/>
          </a:p>
          <a:p>
            <a:pPr lvl="1"/>
            <a:endParaRPr lang="en-GB" sz="3200" dirty="0"/>
          </a:p>
        </p:txBody>
      </p:sp>
      <p:pic>
        <p:nvPicPr>
          <p:cNvPr id="6" name="Picture 5">
            <a:extLst>
              <a:ext uri="{FF2B5EF4-FFF2-40B4-BE49-F238E27FC236}">
                <a16:creationId xmlns:a16="http://schemas.microsoft.com/office/drawing/2014/main" id="{62536EDF-6149-43B0-BBBF-F4EDD6E93F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31062" y="4215009"/>
            <a:ext cx="1723862" cy="1379640"/>
          </a:xfrm>
          <a:prstGeom prst="rect">
            <a:avLst/>
          </a:prstGeom>
        </p:spPr>
      </p:pic>
    </p:spTree>
    <p:extLst>
      <p:ext uri="{BB962C8B-B14F-4D97-AF65-F5344CB8AC3E}">
        <p14:creationId xmlns:p14="http://schemas.microsoft.com/office/powerpoint/2010/main" val="187099024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B3103E-5248-4288-AB93-4C0F6A519228}"/>
              </a:ext>
            </a:extLst>
          </p:cNvPr>
          <p:cNvSpPr>
            <a:spLocks noGrp="1"/>
          </p:cNvSpPr>
          <p:nvPr>
            <p:ph type="title"/>
          </p:nvPr>
        </p:nvSpPr>
        <p:spPr>
          <a:xfrm>
            <a:off x="4279515" y="324464"/>
            <a:ext cx="5945139" cy="884903"/>
          </a:xfrm>
        </p:spPr>
        <p:txBody>
          <a:bodyPr>
            <a:normAutofit/>
          </a:bodyPr>
          <a:lstStyle/>
          <a:p>
            <a:r>
              <a:rPr lang="en-GB" sz="4400" b="1" dirty="0"/>
              <a:t>Where to find Images </a:t>
            </a:r>
          </a:p>
        </p:txBody>
      </p:sp>
      <p:sp>
        <p:nvSpPr>
          <p:cNvPr id="5" name="Content Placeholder 4">
            <a:extLst>
              <a:ext uri="{FF2B5EF4-FFF2-40B4-BE49-F238E27FC236}">
                <a16:creationId xmlns:a16="http://schemas.microsoft.com/office/drawing/2014/main" id="{747CBD11-CCCB-473F-9C40-06AAF60CD56D}"/>
              </a:ext>
            </a:extLst>
          </p:cNvPr>
          <p:cNvSpPr>
            <a:spLocks noGrp="1"/>
          </p:cNvSpPr>
          <p:nvPr>
            <p:ph idx="1"/>
          </p:nvPr>
        </p:nvSpPr>
        <p:spPr>
          <a:xfrm>
            <a:off x="677333" y="1579418"/>
            <a:ext cx="9408775" cy="5278582"/>
          </a:xfrm>
        </p:spPr>
        <p:txBody>
          <a:bodyPr>
            <a:noAutofit/>
          </a:bodyPr>
          <a:lstStyle/>
          <a:p>
            <a:r>
              <a:rPr lang="en-GB" sz="3600" dirty="0"/>
              <a:t>You can obtain images from various sites including the following</a:t>
            </a:r>
          </a:p>
          <a:p>
            <a:pPr lvl="1"/>
            <a:r>
              <a:rPr lang="en-GB" sz="3600" dirty="0"/>
              <a:t>google.com</a:t>
            </a:r>
          </a:p>
          <a:p>
            <a:pPr lvl="1"/>
            <a:r>
              <a:rPr lang="en-GB" sz="3600" dirty="0"/>
              <a:t>pexels.com</a:t>
            </a:r>
          </a:p>
          <a:p>
            <a:pPr lvl="1"/>
            <a:r>
              <a:rPr lang="en-GB" sz="3600" dirty="0"/>
              <a:t>pixabay.com</a:t>
            </a:r>
          </a:p>
          <a:p>
            <a:pPr lvl="1"/>
            <a:r>
              <a:rPr lang="en-GB" sz="3600" dirty="0"/>
              <a:t>unsplash.com</a:t>
            </a:r>
          </a:p>
          <a:p>
            <a:pPr lvl="1"/>
            <a:r>
              <a:rPr lang="en-GB" sz="3600" dirty="0"/>
              <a:t>stocksnap.io</a:t>
            </a:r>
          </a:p>
          <a:p>
            <a:pPr lvl="1"/>
            <a:r>
              <a:rPr lang="en-GB" sz="3600" dirty="0"/>
              <a:t>flickr.com</a:t>
            </a:r>
          </a:p>
        </p:txBody>
      </p:sp>
    </p:spTree>
    <p:extLst>
      <p:ext uri="{BB962C8B-B14F-4D97-AF65-F5344CB8AC3E}">
        <p14:creationId xmlns:p14="http://schemas.microsoft.com/office/powerpoint/2010/main" val="385002197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46209" y="103239"/>
            <a:ext cx="5742919" cy="1129816"/>
          </a:xfrm>
        </p:spPr>
        <p:txBody>
          <a:bodyPr>
            <a:normAutofit fontScale="90000"/>
          </a:bodyPr>
          <a:lstStyle/>
          <a:p>
            <a:pPr algn="ctr"/>
            <a:r>
              <a:rPr lang="en-US" b="1" dirty="0">
                <a:cs typeface="Arial" pitchFamily="34" charset="0"/>
              </a:rPr>
              <a:t>Downloading videos From the Web</a:t>
            </a:r>
            <a:endParaRPr lang="en-US" b="1" dirty="0"/>
          </a:p>
        </p:txBody>
      </p:sp>
      <p:sp>
        <p:nvSpPr>
          <p:cNvPr id="3" name="Content Placeholder 2"/>
          <p:cNvSpPr>
            <a:spLocks noGrp="1"/>
          </p:cNvSpPr>
          <p:nvPr>
            <p:ph idx="1"/>
          </p:nvPr>
        </p:nvSpPr>
        <p:spPr>
          <a:xfrm>
            <a:off x="533190" y="1462325"/>
            <a:ext cx="10107101" cy="5292436"/>
          </a:xfrm>
        </p:spPr>
        <p:txBody>
          <a:bodyPr>
            <a:noAutofit/>
          </a:bodyPr>
          <a:lstStyle/>
          <a:p>
            <a:pPr lvl="0"/>
            <a:r>
              <a:rPr lang="en-US" sz="2800" dirty="0"/>
              <a:t>Downloading videos: Open any of the following</a:t>
            </a:r>
          </a:p>
          <a:p>
            <a:pPr lvl="1"/>
            <a:r>
              <a:rPr lang="en-US" sz="2800" b="1" dirty="0"/>
              <a:t>4kdownloader</a:t>
            </a:r>
          </a:p>
          <a:p>
            <a:pPr lvl="1"/>
            <a:r>
              <a:rPr lang="en-US" sz="2800" dirty="0"/>
              <a:t>Re</a:t>
            </a:r>
            <a:r>
              <a:rPr lang="en-US" sz="2800" b="1" dirty="0"/>
              <a:t>al player</a:t>
            </a:r>
          </a:p>
          <a:p>
            <a:pPr lvl="1"/>
            <a:r>
              <a:rPr lang="en-US" sz="2800" b="1" dirty="0" err="1"/>
              <a:t>SaveFrom</a:t>
            </a:r>
            <a:r>
              <a:rPr lang="en-US" sz="2800" b="1" dirty="0"/>
              <a:t>: </a:t>
            </a:r>
            <a:endParaRPr lang="en-US" sz="2800" dirty="0"/>
          </a:p>
          <a:p>
            <a:pPr lvl="2"/>
            <a:r>
              <a:rPr lang="en-US" sz="2800" u="sng" dirty="0">
                <a:hlinkClick r:id="rId2"/>
              </a:rPr>
              <a:t>http://en.savefrom.net/</a:t>
            </a:r>
            <a:r>
              <a:rPr lang="en-US" sz="2800" dirty="0"/>
              <a:t> </a:t>
            </a:r>
          </a:p>
          <a:p>
            <a:pPr lvl="1"/>
            <a:r>
              <a:rPr lang="en-GB" sz="2800" b="1" dirty="0"/>
              <a:t>V</a:t>
            </a:r>
            <a:r>
              <a:rPr lang="en-US" sz="2800" b="1" dirty="0" err="1"/>
              <a:t>Dyoutube</a:t>
            </a:r>
            <a:endParaRPr lang="en-US" sz="2800" b="1" dirty="0"/>
          </a:p>
          <a:p>
            <a:pPr lvl="2"/>
            <a:r>
              <a:rPr lang="en-US" sz="2800" b="1" dirty="0">
                <a:hlinkClick r:id="rId3"/>
              </a:rPr>
              <a:t>https://www.vdyoutube.com/</a:t>
            </a:r>
            <a:endParaRPr lang="en-US" sz="2800" b="1" dirty="0"/>
          </a:p>
          <a:p>
            <a:pPr lvl="1"/>
            <a:r>
              <a:rPr lang="en-US" sz="2800" b="1" dirty="0" err="1"/>
              <a:t>Keepdownloading</a:t>
            </a:r>
            <a:endParaRPr lang="en-US" sz="2800" b="1" dirty="0"/>
          </a:p>
          <a:p>
            <a:pPr lvl="2"/>
            <a:r>
              <a:rPr lang="en-US" sz="2800" dirty="0">
                <a:hlinkClick r:id="rId4"/>
              </a:rPr>
              <a:t>https://www.keepdownloading.com/</a:t>
            </a:r>
            <a:r>
              <a:rPr lang="en-US" sz="2800" dirty="0"/>
              <a:t> </a:t>
            </a:r>
          </a:p>
          <a:p>
            <a:pPr lvl="0"/>
            <a:endParaRPr lang="en-US" sz="2800" dirty="0"/>
          </a:p>
          <a:p>
            <a:endParaRPr lang="en-US" sz="2800" dirty="0"/>
          </a:p>
        </p:txBody>
      </p:sp>
    </p:spTree>
    <p:extLst>
      <p:ext uri="{BB962C8B-B14F-4D97-AF65-F5344CB8AC3E}">
        <p14:creationId xmlns:p14="http://schemas.microsoft.com/office/powerpoint/2010/main" val="2195456059"/>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89585" y="318655"/>
            <a:ext cx="5400779" cy="1330035"/>
          </a:xfrm>
        </p:spPr>
        <p:txBody>
          <a:bodyPr>
            <a:normAutofit/>
          </a:bodyPr>
          <a:lstStyle/>
          <a:p>
            <a:pPr algn="ctr"/>
            <a:r>
              <a:rPr lang="en-US" b="1" dirty="0">
                <a:cs typeface="Arial" pitchFamily="34" charset="0"/>
              </a:rPr>
              <a:t>Downloading Video From The Web</a:t>
            </a:r>
            <a:endParaRPr lang="en-GB" b="1" dirty="0">
              <a:cs typeface="Arial" pitchFamily="34" charset="0"/>
            </a:endParaRPr>
          </a:p>
        </p:txBody>
      </p:sp>
      <p:sp>
        <p:nvSpPr>
          <p:cNvPr id="3" name="Content Placeholder 2"/>
          <p:cNvSpPr>
            <a:spLocks noGrp="1"/>
          </p:cNvSpPr>
          <p:nvPr>
            <p:ph idx="1"/>
          </p:nvPr>
        </p:nvSpPr>
        <p:spPr>
          <a:xfrm>
            <a:off x="651164" y="1819418"/>
            <a:ext cx="10179396" cy="4845542"/>
          </a:xfrm>
        </p:spPr>
        <p:txBody>
          <a:bodyPr>
            <a:normAutofit/>
          </a:bodyPr>
          <a:lstStyle/>
          <a:p>
            <a:r>
              <a:rPr lang="en-GB" sz="3600" dirty="0">
                <a:cs typeface="Arial" pitchFamily="34" charset="0"/>
              </a:rPr>
              <a:t>Using </a:t>
            </a:r>
            <a:r>
              <a:rPr lang="en-GB" sz="3600" b="1" dirty="0" err="1">
                <a:cs typeface="Arial" pitchFamily="34" charset="0"/>
              </a:rPr>
              <a:t>Savefrom</a:t>
            </a:r>
            <a:r>
              <a:rPr lang="en-GB" sz="3600" b="1" dirty="0">
                <a:cs typeface="Arial" pitchFamily="34" charset="0"/>
              </a:rPr>
              <a:t>/</a:t>
            </a:r>
            <a:r>
              <a:rPr lang="en-GB" sz="3600" b="1" dirty="0"/>
              <a:t>V</a:t>
            </a:r>
            <a:r>
              <a:rPr lang="en-US" sz="3600" b="1" dirty="0" err="1"/>
              <a:t>dyoutube</a:t>
            </a:r>
            <a:r>
              <a:rPr lang="en-US" sz="3600" b="1" dirty="0"/>
              <a:t>/</a:t>
            </a:r>
            <a:r>
              <a:rPr lang="en-US" sz="3600" b="1" dirty="0" err="1"/>
              <a:t>keepdownloading</a:t>
            </a:r>
            <a:endParaRPr lang="en-GB" sz="3600" dirty="0">
              <a:cs typeface="Arial" pitchFamily="34" charset="0"/>
            </a:endParaRPr>
          </a:p>
          <a:p>
            <a:pPr lvl="1"/>
            <a:r>
              <a:rPr lang="en-GB" sz="3600" dirty="0">
                <a:cs typeface="Arial" pitchFamily="34" charset="0"/>
              </a:rPr>
              <a:t>Go to Youtube.com</a:t>
            </a:r>
          </a:p>
          <a:p>
            <a:pPr lvl="1"/>
            <a:r>
              <a:rPr lang="en-GB" sz="3600" dirty="0">
                <a:cs typeface="Arial" pitchFamily="34" charset="0"/>
              </a:rPr>
              <a:t>Select the video file</a:t>
            </a:r>
          </a:p>
          <a:p>
            <a:pPr lvl="1"/>
            <a:r>
              <a:rPr lang="en-GB" sz="3600" dirty="0">
                <a:cs typeface="Arial" pitchFamily="34" charset="0"/>
              </a:rPr>
              <a:t>Start playing the file</a:t>
            </a:r>
          </a:p>
          <a:p>
            <a:pPr lvl="1"/>
            <a:r>
              <a:rPr lang="en-GB" sz="3600" dirty="0">
                <a:cs typeface="Arial" pitchFamily="34" charset="0"/>
              </a:rPr>
              <a:t>Copy the URL in YouTube address Bar</a:t>
            </a:r>
          </a:p>
          <a:p>
            <a:pPr lvl="1"/>
            <a:endParaRPr lang="en-GB" sz="3600" dirty="0">
              <a:cs typeface="Arial" pitchFamily="34" charset="0"/>
            </a:endParaRPr>
          </a:p>
          <a:p>
            <a:pPr lvl="1"/>
            <a:endParaRPr lang="en-GB" sz="3600" dirty="0">
              <a:cs typeface="Arial" pitchFamily="34" charset="0"/>
            </a:endParaRPr>
          </a:p>
        </p:txBody>
      </p:sp>
    </p:spTree>
    <p:extLst>
      <p:ext uri="{BB962C8B-B14F-4D97-AF65-F5344CB8AC3E}">
        <p14:creationId xmlns:p14="http://schemas.microsoft.com/office/powerpoint/2010/main" val="370692498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F1631-0FF9-46BD-9B01-7561A09720EB}"/>
              </a:ext>
            </a:extLst>
          </p:cNvPr>
          <p:cNvSpPr>
            <a:spLocks noGrp="1"/>
          </p:cNvSpPr>
          <p:nvPr>
            <p:ph type="title"/>
          </p:nvPr>
        </p:nvSpPr>
        <p:spPr>
          <a:xfrm>
            <a:off x="4415616" y="456426"/>
            <a:ext cx="4741831" cy="808383"/>
          </a:xfrm>
        </p:spPr>
        <p:txBody>
          <a:bodyPr/>
          <a:lstStyle/>
          <a:p>
            <a:r>
              <a:rPr lang="en-US" b="1" dirty="0"/>
              <a:t>Authoring Systems</a:t>
            </a:r>
          </a:p>
        </p:txBody>
      </p:sp>
      <p:sp>
        <p:nvSpPr>
          <p:cNvPr id="3" name="Content Placeholder 2">
            <a:extLst>
              <a:ext uri="{FF2B5EF4-FFF2-40B4-BE49-F238E27FC236}">
                <a16:creationId xmlns:a16="http://schemas.microsoft.com/office/drawing/2014/main" id="{AD3A1221-3B9E-4D93-B9D4-35D1F91D2BC3}"/>
              </a:ext>
            </a:extLst>
          </p:cNvPr>
          <p:cNvSpPr>
            <a:spLocks noGrp="1"/>
          </p:cNvSpPr>
          <p:nvPr>
            <p:ph idx="1"/>
          </p:nvPr>
        </p:nvSpPr>
        <p:spPr>
          <a:xfrm>
            <a:off x="610099" y="1714592"/>
            <a:ext cx="9636560" cy="4915582"/>
          </a:xfrm>
        </p:spPr>
        <p:txBody>
          <a:bodyPr>
            <a:normAutofit/>
          </a:bodyPr>
          <a:lstStyle/>
          <a:p>
            <a:pPr algn="just"/>
            <a:r>
              <a:rPr lang="en-US" sz="3200" dirty="0"/>
              <a:t>These are programs which has pre-programmed elements for the development of interactive multimedia presentations. These systems also help to write hypertext or multimedia applications. </a:t>
            </a:r>
          </a:p>
          <a:p>
            <a:pPr algn="just"/>
            <a:r>
              <a:rPr lang="en-US" sz="3200" dirty="0"/>
              <a:t>Examples include Microsoft PowerPoint, Adobe Flash, TechSmith Camtasia, Articulate Studio, Adobe Captivate, U-Lead Studio, etc. </a:t>
            </a:r>
          </a:p>
        </p:txBody>
      </p:sp>
    </p:spTree>
    <p:extLst>
      <p:ext uri="{BB962C8B-B14F-4D97-AF65-F5344CB8AC3E}">
        <p14:creationId xmlns:p14="http://schemas.microsoft.com/office/powerpoint/2010/main" val="24249028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2842B-8EE1-447A-9D95-833A7FDC2D45}"/>
              </a:ext>
            </a:extLst>
          </p:cNvPr>
          <p:cNvSpPr>
            <a:spLocks noGrp="1"/>
          </p:cNvSpPr>
          <p:nvPr>
            <p:ph type="title"/>
          </p:nvPr>
        </p:nvSpPr>
        <p:spPr>
          <a:xfrm>
            <a:off x="4489088" y="396792"/>
            <a:ext cx="5145242" cy="808383"/>
          </a:xfrm>
        </p:spPr>
        <p:txBody>
          <a:bodyPr/>
          <a:lstStyle/>
          <a:p>
            <a:r>
              <a:rPr lang="en-US" b="1" dirty="0"/>
              <a:t>Multimedia Authoring</a:t>
            </a:r>
          </a:p>
        </p:txBody>
      </p:sp>
      <p:sp>
        <p:nvSpPr>
          <p:cNvPr id="3" name="Content Placeholder 2">
            <a:extLst>
              <a:ext uri="{FF2B5EF4-FFF2-40B4-BE49-F238E27FC236}">
                <a16:creationId xmlns:a16="http://schemas.microsoft.com/office/drawing/2014/main" id="{CE6EB18B-08AE-437C-8F10-DADD4F40ED69}"/>
              </a:ext>
            </a:extLst>
          </p:cNvPr>
          <p:cNvSpPr>
            <a:spLocks noGrp="1"/>
          </p:cNvSpPr>
          <p:nvPr>
            <p:ph idx="1"/>
          </p:nvPr>
        </p:nvSpPr>
        <p:spPr>
          <a:xfrm>
            <a:off x="758492" y="1532380"/>
            <a:ext cx="9662979" cy="5676017"/>
          </a:xfrm>
        </p:spPr>
        <p:txBody>
          <a:bodyPr>
            <a:normAutofit/>
          </a:bodyPr>
          <a:lstStyle/>
          <a:p>
            <a:pPr algn="just"/>
            <a:r>
              <a:rPr lang="en-US" sz="3200" dirty="0"/>
              <a:t>Multimedia authoring is a process of assembling different types of media contents like text, audio, image, animations and video as a single stream of information with the help of various software tools available in the market. </a:t>
            </a:r>
          </a:p>
          <a:p>
            <a:pPr algn="just"/>
            <a:r>
              <a:rPr lang="en-US" sz="3200" dirty="0"/>
              <a:t>Multimedia authoring can also simply mean creation of multimedia products such as movies, presentations or interactive applications with the help of multimedia systems or applications.</a:t>
            </a:r>
          </a:p>
        </p:txBody>
      </p:sp>
    </p:spTree>
    <p:extLst>
      <p:ext uri="{BB962C8B-B14F-4D97-AF65-F5344CB8AC3E}">
        <p14:creationId xmlns:p14="http://schemas.microsoft.com/office/powerpoint/2010/main" val="33335101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ABF24-8FF6-44FA-8AC7-61D94EE5862E}"/>
              </a:ext>
            </a:extLst>
          </p:cNvPr>
          <p:cNvSpPr>
            <a:spLocks noGrp="1"/>
          </p:cNvSpPr>
          <p:nvPr>
            <p:ph type="title"/>
          </p:nvPr>
        </p:nvSpPr>
        <p:spPr>
          <a:xfrm>
            <a:off x="4296346" y="249131"/>
            <a:ext cx="5412430" cy="1135915"/>
          </a:xfrm>
        </p:spPr>
        <p:txBody>
          <a:bodyPr>
            <a:normAutofit fontScale="90000"/>
          </a:bodyPr>
          <a:lstStyle/>
          <a:p>
            <a:r>
              <a:rPr lang="en-US" dirty="0"/>
              <a:t>Advantages of Authoring Systems</a:t>
            </a:r>
          </a:p>
        </p:txBody>
      </p:sp>
      <p:sp>
        <p:nvSpPr>
          <p:cNvPr id="3" name="Content Placeholder 2">
            <a:extLst>
              <a:ext uri="{FF2B5EF4-FFF2-40B4-BE49-F238E27FC236}">
                <a16:creationId xmlns:a16="http://schemas.microsoft.com/office/drawing/2014/main" id="{459F7B66-7B6E-4FEC-A5A3-1A0B1100BFD7}"/>
              </a:ext>
            </a:extLst>
          </p:cNvPr>
          <p:cNvSpPr>
            <a:spLocks noGrp="1"/>
          </p:cNvSpPr>
          <p:nvPr>
            <p:ph idx="1"/>
          </p:nvPr>
        </p:nvSpPr>
        <p:spPr>
          <a:xfrm>
            <a:off x="677333" y="1492624"/>
            <a:ext cx="9676901" cy="5365376"/>
          </a:xfrm>
        </p:spPr>
        <p:txBody>
          <a:bodyPr>
            <a:normAutofit/>
          </a:bodyPr>
          <a:lstStyle/>
          <a:p>
            <a:pPr algn="just"/>
            <a:r>
              <a:rPr lang="en-US" sz="2400" dirty="0"/>
              <a:t>Authoring systems contributes to interactive lessons development and delivery</a:t>
            </a:r>
          </a:p>
          <a:p>
            <a:pPr algn="just"/>
            <a:r>
              <a:rPr lang="en-US" sz="2400" dirty="0"/>
              <a:t>They also provide low level computer users the power to design their own multimedia content with little or no difficulty.</a:t>
            </a:r>
          </a:p>
          <a:p>
            <a:pPr algn="just"/>
            <a:r>
              <a:rPr lang="en-US" sz="2400" dirty="0"/>
              <a:t>Authoring tools give teachers the power to design lessons to cater for all learning styles.</a:t>
            </a:r>
          </a:p>
          <a:p>
            <a:pPr algn="just"/>
            <a:r>
              <a:rPr lang="en-US" sz="2400" dirty="0"/>
              <a:t>Authoring tools like PowerPoint can be used as an instructional tool and at the same time a productivity tools.</a:t>
            </a:r>
          </a:p>
          <a:p>
            <a:pPr algn="just"/>
            <a:r>
              <a:rPr lang="en-US" sz="2400" dirty="0"/>
              <a:t>The content creation (graphics, text, video, audio, animation) is not affected by choice of authoring system</a:t>
            </a:r>
          </a:p>
          <a:p>
            <a:pPr algn="just"/>
            <a:r>
              <a:rPr lang="en-US" sz="2400" dirty="0"/>
              <a:t>Authoring systems can speed up programming and development of multimedia content</a:t>
            </a:r>
          </a:p>
          <a:p>
            <a:pPr algn="just"/>
            <a:endParaRPr lang="en-US" sz="2400" dirty="0"/>
          </a:p>
        </p:txBody>
      </p:sp>
    </p:spTree>
    <p:extLst>
      <p:ext uri="{BB962C8B-B14F-4D97-AF65-F5344CB8AC3E}">
        <p14:creationId xmlns:p14="http://schemas.microsoft.com/office/powerpoint/2010/main" val="32559621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7DD39-14FD-4015-9AA8-CAEB660642CE}"/>
              </a:ext>
            </a:extLst>
          </p:cNvPr>
          <p:cNvSpPr>
            <a:spLocks noGrp="1"/>
          </p:cNvSpPr>
          <p:nvPr>
            <p:ph type="title"/>
          </p:nvPr>
        </p:nvSpPr>
        <p:spPr>
          <a:xfrm>
            <a:off x="5062634" y="118064"/>
            <a:ext cx="4767165" cy="1310247"/>
          </a:xfrm>
        </p:spPr>
        <p:txBody>
          <a:bodyPr>
            <a:normAutofit/>
          </a:bodyPr>
          <a:lstStyle/>
          <a:p>
            <a:r>
              <a:rPr lang="en-GB" sz="3600" b="1" dirty="0">
                <a:effectLst/>
                <a:latin typeface="+mn-lt"/>
                <a:ea typeface="MS Mincho" panose="02020609040205080304" pitchFamily="49" charset="-128"/>
                <a:cs typeface="Times New Roman" panose="02020603050405020304" pitchFamily="18" charset="0"/>
              </a:rPr>
              <a:t>How Authoring Tools Impact Learning</a:t>
            </a:r>
            <a:endParaRPr lang="en-US" dirty="0">
              <a:latin typeface="+mn-lt"/>
            </a:endParaRPr>
          </a:p>
        </p:txBody>
      </p:sp>
      <p:sp>
        <p:nvSpPr>
          <p:cNvPr id="3" name="Content Placeholder 2">
            <a:extLst>
              <a:ext uri="{FF2B5EF4-FFF2-40B4-BE49-F238E27FC236}">
                <a16:creationId xmlns:a16="http://schemas.microsoft.com/office/drawing/2014/main" id="{53520C1A-B3D3-4CE3-80AE-7411AC2ABA25}"/>
              </a:ext>
            </a:extLst>
          </p:cNvPr>
          <p:cNvSpPr>
            <a:spLocks noGrp="1"/>
          </p:cNvSpPr>
          <p:nvPr>
            <p:ph idx="1"/>
          </p:nvPr>
        </p:nvSpPr>
        <p:spPr>
          <a:xfrm>
            <a:off x="811805" y="1428311"/>
            <a:ext cx="9918948" cy="5910470"/>
          </a:xfrm>
        </p:spPr>
        <p:txBody>
          <a:bodyPr>
            <a:normAutofit/>
          </a:bodyPr>
          <a:lstStyle/>
          <a:p>
            <a:pPr algn="just"/>
            <a:r>
              <a:rPr lang="en-US" sz="2800" dirty="0"/>
              <a:t>Authoring tools have become the perfect solution to capture the attention of your audience in the easiest, fastest, and most impactful way. </a:t>
            </a:r>
          </a:p>
          <a:p>
            <a:pPr algn="just"/>
            <a:r>
              <a:rPr lang="en-US" sz="2800" dirty="0"/>
              <a:t>Authoring tools help tutors deliver interactive lessons and also support advanced learning and training course material development.</a:t>
            </a:r>
          </a:p>
          <a:p>
            <a:pPr algn="just"/>
            <a:r>
              <a:rPr lang="en-US" sz="2800" dirty="0"/>
              <a:t>Many computer games with focus on education are now available which help to stimulate and motivate the students. </a:t>
            </a:r>
          </a:p>
          <a:p>
            <a:pPr algn="just"/>
            <a:r>
              <a:rPr lang="en-US" sz="2800" dirty="0"/>
              <a:t>The tool provides assistance to teachers and students in putting together simple presentations. </a:t>
            </a:r>
          </a:p>
        </p:txBody>
      </p:sp>
    </p:spTree>
    <p:extLst>
      <p:ext uri="{BB962C8B-B14F-4D97-AF65-F5344CB8AC3E}">
        <p14:creationId xmlns:p14="http://schemas.microsoft.com/office/powerpoint/2010/main" val="38569735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D8F54-4890-4023-B574-FE4F4DDD322C}"/>
              </a:ext>
            </a:extLst>
          </p:cNvPr>
          <p:cNvSpPr>
            <a:spLocks noGrp="1"/>
          </p:cNvSpPr>
          <p:nvPr>
            <p:ph type="title"/>
          </p:nvPr>
        </p:nvSpPr>
        <p:spPr>
          <a:xfrm>
            <a:off x="4065992" y="354106"/>
            <a:ext cx="6126878" cy="861391"/>
          </a:xfrm>
        </p:spPr>
        <p:txBody>
          <a:bodyPr/>
          <a:lstStyle/>
          <a:p>
            <a:r>
              <a:rPr lang="en-US" b="1" dirty="0"/>
              <a:t>Features of Authoring Tools</a:t>
            </a:r>
          </a:p>
        </p:txBody>
      </p:sp>
      <p:sp>
        <p:nvSpPr>
          <p:cNvPr id="3" name="Content Placeholder 2">
            <a:extLst>
              <a:ext uri="{FF2B5EF4-FFF2-40B4-BE49-F238E27FC236}">
                <a16:creationId xmlns:a16="http://schemas.microsoft.com/office/drawing/2014/main" id="{FA77800E-332F-4E28-B46E-C273858D9434}"/>
              </a:ext>
            </a:extLst>
          </p:cNvPr>
          <p:cNvSpPr>
            <a:spLocks noGrp="1"/>
          </p:cNvSpPr>
          <p:nvPr>
            <p:ph idx="1"/>
          </p:nvPr>
        </p:nvSpPr>
        <p:spPr>
          <a:xfrm>
            <a:off x="677334" y="1603513"/>
            <a:ext cx="8596668" cy="4437849"/>
          </a:xfrm>
        </p:spPr>
        <p:txBody>
          <a:bodyPr>
            <a:normAutofit/>
          </a:bodyPr>
          <a:lstStyle/>
          <a:p>
            <a:r>
              <a:rPr lang="en-US" sz="3200" dirty="0"/>
              <a:t>Editing features</a:t>
            </a:r>
          </a:p>
          <a:p>
            <a:r>
              <a:rPr lang="en-US" sz="3200" dirty="0"/>
              <a:t>Interactivity features</a:t>
            </a:r>
          </a:p>
          <a:p>
            <a:r>
              <a:rPr lang="en-US" sz="3200" dirty="0"/>
              <a:t>Playback features</a:t>
            </a:r>
          </a:p>
          <a:p>
            <a:r>
              <a:rPr lang="en-US" sz="3200" dirty="0"/>
              <a:t>Hypertext</a:t>
            </a:r>
          </a:p>
          <a:p>
            <a:r>
              <a:rPr lang="en-US" sz="3200" dirty="0"/>
              <a:t>Internet playability</a:t>
            </a:r>
          </a:p>
          <a:p>
            <a:r>
              <a:rPr lang="en-US" sz="3200" dirty="0"/>
              <a:t>Cross-Platform capabilities</a:t>
            </a:r>
          </a:p>
          <a:p>
            <a:r>
              <a:rPr lang="en-US" sz="3200" dirty="0"/>
              <a:t>Visual programming with icons or objects</a:t>
            </a:r>
          </a:p>
        </p:txBody>
      </p:sp>
    </p:spTree>
    <p:extLst>
      <p:ext uri="{BB962C8B-B14F-4D97-AF65-F5344CB8AC3E}">
        <p14:creationId xmlns:p14="http://schemas.microsoft.com/office/powerpoint/2010/main" val="19126967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5944" y="400688"/>
            <a:ext cx="5092090" cy="944018"/>
          </a:xfrm>
        </p:spPr>
        <p:txBody>
          <a:bodyPr>
            <a:normAutofit/>
          </a:bodyPr>
          <a:lstStyle/>
          <a:p>
            <a:r>
              <a:rPr lang="en-US" sz="4400" dirty="0"/>
              <a:t>COURSEWARE</a:t>
            </a:r>
          </a:p>
        </p:txBody>
      </p:sp>
      <p:sp>
        <p:nvSpPr>
          <p:cNvPr id="3" name="Content Placeholder 2"/>
          <p:cNvSpPr>
            <a:spLocks noGrp="1"/>
          </p:cNvSpPr>
          <p:nvPr>
            <p:ph idx="1"/>
          </p:nvPr>
        </p:nvSpPr>
        <p:spPr>
          <a:xfrm>
            <a:off x="677333" y="1506071"/>
            <a:ext cx="8991101" cy="4688465"/>
          </a:xfrm>
        </p:spPr>
        <p:txBody>
          <a:bodyPr>
            <a:noAutofit/>
          </a:bodyPr>
          <a:lstStyle/>
          <a:p>
            <a:pPr algn="just"/>
            <a:r>
              <a:rPr lang="en-US" sz="3200" dirty="0"/>
              <a:t>Courseware simply refers to educational software. </a:t>
            </a:r>
          </a:p>
          <a:p>
            <a:pPr algn="just"/>
            <a:r>
              <a:rPr lang="en-US" sz="3200" dirty="0"/>
              <a:t>It is defined as instructional material in an interactive mode to facilitate and control the individualized learning environment for students. It can be used to provide instructional material to a group of students or for individual students. </a:t>
            </a:r>
          </a:p>
        </p:txBody>
      </p:sp>
    </p:spTree>
    <p:extLst>
      <p:ext uri="{BB962C8B-B14F-4D97-AF65-F5344CB8AC3E}">
        <p14:creationId xmlns:p14="http://schemas.microsoft.com/office/powerpoint/2010/main" val="6645351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66662" y="360347"/>
            <a:ext cx="6079997" cy="970912"/>
          </a:xfrm>
        </p:spPr>
        <p:txBody>
          <a:bodyPr>
            <a:normAutofit fontScale="90000"/>
          </a:bodyPr>
          <a:lstStyle/>
          <a:p>
            <a:r>
              <a:rPr lang="en-US" sz="4000" dirty="0"/>
              <a:t>Categories of Courseware</a:t>
            </a:r>
          </a:p>
        </p:txBody>
      </p:sp>
      <p:sp>
        <p:nvSpPr>
          <p:cNvPr id="3" name="Content Placeholder 2"/>
          <p:cNvSpPr>
            <a:spLocks noGrp="1"/>
          </p:cNvSpPr>
          <p:nvPr>
            <p:ph idx="1"/>
          </p:nvPr>
        </p:nvSpPr>
        <p:spPr/>
        <p:txBody>
          <a:bodyPr>
            <a:normAutofit/>
          </a:bodyPr>
          <a:lstStyle/>
          <a:p>
            <a:r>
              <a:rPr lang="en-US" sz="3600" dirty="0"/>
              <a:t>Drill and practice</a:t>
            </a:r>
          </a:p>
          <a:p>
            <a:r>
              <a:rPr lang="en-US" sz="3600" dirty="0"/>
              <a:t>Tutorial</a:t>
            </a:r>
          </a:p>
          <a:p>
            <a:r>
              <a:rPr lang="en-US" sz="3600" dirty="0"/>
              <a:t>Problem solving </a:t>
            </a:r>
          </a:p>
          <a:p>
            <a:r>
              <a:rPr lang="en-US" sz="3600" dirty="0"/>
              <a:t>Gaming </a:t>
            </a:r>
          </a:p>
          <a:p>
            <a:r>
              <a:rPr lang="en-US" sz="3600" dirty="0"/>
              <a:t>Simulation</a:t>
            </a:r>
          </a:p>
        </p:txBody>
      </p:sp>
    </p:spTree>
    <p:extLst>
      <p:ext uri="{BB962C8B-B14F-4D97-AF65-F5344CB8AC3E}">
        <p14:creationId xmlns:p14="http://schemas.microsoft.com/office/powerpoint/2010/main" val="27745389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6321" y="266217"/>
            <a:ext cx="5092090" cy="849889"/>
          </a:xfrm>
        </p:spPr>
        <p:txBody>
          <a:bodyPr>
            <a:normAutofit/>
          </a:bodyPr>
          <a:lstStyle/>
          <a:p>
            <a:r>
              <a:rPr lang="en-US" sz="4400" dirty="0"/>
              <a:t>Drill and Practice</a:t>
            </a:r>
          </a:p>
        </p:txBody>
      </p:sp>
      <p:sp>
        <p:nvSpPr>
          <p:cNvPr id="3" name="Content Placeholder 2"/>
          <p:cNvSpPr>
            <a:spLocks noGrp="1"/>
          </p:cNvSpPr>
          <p:nvPr>
            <p:ph idx="1"/>
          </p:nvPr>
        </p:nvSpPr>
        <p:spPr>
          <a:xfrm>
            <a:off x="188259" y="1559859"/>
            <a:ext cx="10260106" cy="5419165"/>
          </a:xfrm>
        </p:spPr>
        <p:txBody>
          <a:bodyPr>
            <a:noAutofit/>
          </a:bodyPr>
          <a:lstStyle/>
          <a:p>
            <a:pPr algn="just"/>
            <a:r>
              <a:rPr lang="en-GB" sz="2800" dirty="0"/>
              <a:t>This involves leading the student through a series of examples where he/she can practice the material already learned or can have it repeated for him/her. </a:t>
            </a:r>
            <a:endParaRPr lang="en-US" sz="2800" dirty="0"/>
          </a:p>
          <a:p>
            <a:pPr algn="just"/>
            <a:r>
              <a:rPr lang="en-GB" sz="2800" dirty="0"/>
              <a:t>The assumption with a drill-and-practice system is that the student has already had the concept presented to him, that the material has been seen before, and the purpose now is to gain familiarity and develop some familiarity with the ideas. </a:t>
            </a:r>
          </a:p>
          <a:p>
            <a:pPr algn="just"/>
            <a:r>
              <a:rPr lang="en-GB" sz="2800" dirty="0"/>
              <a:t>The frequency of repetition should have a direct effect on achievement. Drill-and-practice-based lessons can be an effective means of teaching students of varying learning styles.</a:t>
            </a:r>
            <a:endParaRPr lang="en-US" sz="2800" dirty="0"/>
          </a:p>
          <a:p>
            <a:pPr algn="just"/>
            <a:endParaRPr lang="en-US" sz="2800" dirty="0"/>
          </a:p>
        </p:txBody>
      </p:sp>
    </p:spTree>
    <p:extLst>
      <p:ext uri="{BB962C8B-B14F-4D97-AF65-F5344CB8AC3E}">
        <p14:creationId xmlns:p14="http://schemas.microsoft.com/office/powerpoint/2010/main" val="28845028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6321" y="266217"/>
            <a:ext cx="4251197" cy="944018"/>
          </a:xfrm>
        </p:spPr>
        <p:txBody>
          <a:bodyPr>
            <a:normAutofit/>
          </a:bodyPr>
          <a:lstStyle/>
          <a:p>
            <a:r>
              <a:rPr lang="en-US" sz="4400" b="1" dirty="0"/>
              <a:t>Tutorial </a:t>
            </a:r>
          </a:p>
        </p:txBody>
      </p:sp>
      <p:sp>
        <p:nvSpPr>
          <p:cNvPr id="3" name="Content Placeholder 2"/>
          <p:cNvSpPr>
            <a:spLocks noGrp="1"/>
          </p:cNvSpPr>
          <p:nvPr>
            <p:ph idx="1"/>
          </p:nvPr>
        </p:nvSpPr>
        <p:spPr>
          <a:xfrm>
            <a:off x="677333" y="1573307"/>
            <a:ext cx="9152467" cy="4468056"/>
          </a:xfrm>
        </p:spPr>
        <p:txBody>
          <a:bodyPr>
            <a:noAutofit/>
          </a:bodyPr>
          <a:lstStyle/>
          <a:p>
            <a:pPr algn="just"/>
            <a:r>
              <a:rPr lang="en-GB" sz="2800" dirty="0"/>
              <a:t>This approach implies a series of four steps in the teaching of any given concept: </a:t>
            </a:r>
            <a:endParaRPr lang="en-US" sz="2800" dirty="0"/>
          </a:p>
          <a:p>
            <a:pPr lvl="0" algn="just">
              <a:buFont typeface="+mj-lt"/>
              <a:buAutoNum type="arabicPeriod"/>
            </a:pPr>
            <a:r>
              <a:rPr lang="en-GB" sz="2800" dirty="0"/>
              <a:t>stating the item of knowledge that is to be taught; </a:t>
            </a:r>
            <a:endParaRPr lang="en-US" sz="2800" dirty="0"/>
          </a:p>
          <a:p>
            <a:pPr lvl="0" algn="just">
              <a:buFont typeface="+mj-lt"/>
              <a:buAutoNum type="arabicPeriod"/>
            </a:pPr>
            <a:r>
              <a:rPr lang="en-GB" sz="2800" dirty="0"/>
              <a:t>clarifying and elaborating the item in a series of sentences; </a:t>
            </a:r>
            <a:endParaRPr lang="en-US" sz="2800" dirty="0"/>
          </a:p>
          <a:p>
            <a:pPr lvl="0" algn="just">
              <a:buFont typeface="+mj-lt"/>
              <a:buAutoNum type="arabicPeriod"/>
            </a:pPr>
            <a:r>
              <a:rPr lang="en-GB" sz="2800" dirty="0"/>
              <a:t>restating the item to improve understanding; and </a:t>
            </a:r>
            <a:endParaRPr lang="en-US" sz="2800" dirty="0"/>
          </a:p>
          <a:p>
            <a:pPr lvl="0" algn="just">
              <a:buFont typeface="+mj-lt"/>
              <a:buAutoNum type="arabicPeriod"/>
            </a:pPr>
            <a:r>
              <a:rPr lang="en-GB" sz="2800" dirty="0"/>
              <a:t>making a transition to the next concept or item to be taught.</a:t>
            </a:r>
            <a:endParaRPr lang="en-US" sz="2800" dirty="0"/>
          </a:p>
        </p:txBody>
      </p:sp>
    </p:spTree>
    <p:extLst>
      <p:ext uri="{BB962C8B-B14F-4D97-AF65-F5344CB8AC3E}">
        <p14:creationId xmlns:p14="http://schemas.microsoft.com/office/powerpoint/2010/main" val="29903172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6321" y="266217"/>
            <a:ext cx="5092090" cy="930571"/>
          </a:xfrm>
        </p:spPr>
        <p:txBody>
          <a:bodyPr>
            <a:normAutofit/>
          </a:bodyPr>
          <a:lstStyle/>
          <a:p>
            <a:r>
              <a:rPr lang="en-US" sz="4400" b="1" dirty="0"/>
              <a:t>Problem Solving  </a:t>
            </a:r>
          </a:p>
        </p:txBody>
      </p:sp>
      <p:sp>
        <p:nvSpPr>
          <p:cNvPr id="3" name="Content Placeholder 2"/>
          <p:cNvSpPr>
            <a:spLocks noGrp="1"/>
          </p:cNvSpPr>
          <p:nvPr>
            <p:ph idx="1"/>
          </p:nvPr>
        </p:nvSpPr>
        <p:spPr>
          <a:xfrm>
            <a:off x="677333" y="1573306"/>
            <a:ext cx="9421407" cy="5056867"/>
          </a:xfrm>
        </p:spPr>
        <p:txBody>
          <a:bodyPr>
            <a:noAutofit/>
          </a:bodyPr>
          <a:lstStyle/>
          <a:p>
            <a:pPr algn="just" fontAlgn="base"/>
            <a:r>
              <a:rPr lang="en-US" sz="2800" dirty="0"/>
              <a:t>Problem-solving is a process—an ongoing activity in which we take what we know to discover what we don’t know. </a:t>
            </a:r>
          </a:p>
          <a:p>
            <a:pPr algn="just" fontAlgn="base"/>
            <a:r>
              <a:rPr lang="en-US" sz="2800" dirty="0"/>
              <a:t>Problem-solving aims at presenting the knowledge to be learnt in the form of a problem. It begins with a problematic situation and consists of continuous, meaningful, well-integrated activity. </a:t>
            </a:r>
          </a:p>
          <a:p>
            <a:pPr algn="just" fontAlgn="base"/>
            <a:r>
              <a:rPr lang="en-US" sz="2800" dirty="0"/>
              <a:t>It may be a purely mental difficulty or it may be physical and involve manipulation of data. Problem-solving is the ability to identify and solve problems by applying appropriate skills systematically.</a:t>
            </a:r>
          </a:p>
        </p:txBody>
      </p:sp>
    </p:spTree>
    <p:extLst>
      <p:ext uri="{BB962C8B-B14F-4D97-AF65-F5344CB8AC3E}">
        <p14:creationId xmlns:p14="http://schemas.microsoft.com/office/powerpoint/2010/main" val="26844485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1722" y="225875"/>
            <a:ext cx="3995703" cy="917124"/>
          </a:xfrm>
        </p:spPr>
        <p:txBody>
          <a:bodyPr>
            <a:normAutofit/>
          </a:bodyPr>
          <a:lstStyle/>
          <a:p>
            <a:r>
              <a:rPr lang="en-US" sz="4400" b="1" dirty="0"/>
              <a:t>Simulation </a:t>
            </a:r>
          </a:p>
        </p:txBody>
      </p:sp>
      <p:sp>
        <p:nvSpPr>
          <p:cNvPr id="3" name="Content Placeholder 2"/>
          <p:cNvSpPr>
            <a:spLocks noGrp="1"/>
          </p:cNvSpPr>
          <p:nvPr>
            <p:ph idx="1"/>
          </p:nvPr>
        </p:nvSpPr>
        <p:spPr>
          <a:xfrm>
            <a:off x="677333" y="1613647"/>
            <a:ext cx="9569325" cy="4580889"/>
          </a:xfrm>
        </p:spPr>
        <p:txBody>
          <a:bodyPr>
            <a:noAutofit/>
          </a:bodyPr>
          <a:lstStyle/>
          <a:p>
            <a:pPr algn="just"/>
            <a:r>
              <a:rPr lang="en-GB" sz="2800" dirty="0"/>
              <a:t>Simulation is the technique of representing the real world (mostly activity) by a computer program. </a:t>
            </a:r>
          </a:p>
          <a:p>
            <a:pPr algn="just"/>
            <a:r>
              <a:rPr lang="en-GB" sz="2800" dirty="0"/>
              <a:t>In simulation, the student is given a programmed model to use, not asked to write or change this program. He/she only observe and or interact with the simulation model or program. </a:t>
            </a:r>
          </a:p>
          <a:p>
            <a:pPr algn="just"/>
            <a:r>
              <a:rPr lang="en-GB" sz="2800" dirty="0"/>
              <a:t>Simulation can be summarised in learning as </a:t>
            </a:r>
            <a:r>
              <a:rPr lang="en-GB" sz="2800" b="1" dirty="0"/>
              <a:t>“learning by seeing”. </a:t>
            </a:r>
            <a:r>
              <a:rPr lang="en-GB" sz="2800" dirty="0"/>
              <a:t>It allows realistic practice without the expense or risk otherwise involved. </a:t>
            </a:r>
            <a:endParaRPr lang="en-US" sz="2800" dirty="0"/>
          </a:p>
        </p:txBody>
      </p:sp>
    </p:spTree>
    <p:extLst>
      <p:ext uri="{BB962C8B-B14F-4D97-AF65-F5344CB8AC3E}">
        <p14:creationId xmlns:p14="http://schemas.microsoft.com/office/powerpoint/2010/main" val="22089428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34850" y="266217"/>
            <a:ext cx="3592291" cy="957465"/>
          </a:xfrm>
        </p:spPr>
        <p:txBody>
          <a:bodyPr/>
          <a:lstStyle/>
          <a:p>
            <a:r>
              <a:rPr lang="en-US" dirty="0"/>
              <a:t>Gaming </a:t>
            </a:r>
          </a:p>
        </p:txBody>
      </p:sp>
      <p:sp>
        <p:nvSpPr>
          <p:cNvPr id="3" name="Content Placeholder 2"/>
          <p:cNvSpPr>
            <a:spLocks noGrp="1"/>
          </p:cNvSpPr>
          <p:nvPr>
            <p:ph idx="1"/>
          </p:nvPr>
        </p:nvSpPr>
        <p:spPr>
          <a:xfrm>
            <a:off x="489075" y="1775012"/>
            <a:ext cx="9555878" cy="4706469"/>
          </a:xfrm>
        </p:spPr>
        <p:txBody>
          <a:bodyPr>
            <a:noAutofit/>
          </a:bodyPr>
          <a:lstStyle/>
          <a:p>
            <a:pPr algn="just"/>
            <a:r>
              <a:rPr lang="en-GB" sz="3200" dirty="0"/>
              <a:t>Gaming also sometimes called gamification incorporates the most motivational aspects of games (e.g., badges awarded for success) into nongame activities. In this process, students are rewarded upon successful achievement of an objective. This motivates students to put up more efforts. Also driving interest and rewarding student achievement can increase the time spent on learning activities</a:t>
            </a:r>
            <a:endParaRPr lang="en-US" sz="3200" dirty="0"/>
          </a:p>
          <a:p>
            <a:pPr algn="just"/>
            <a:endParaRPr lang="en-US" sz="3200" dirty="0"/>
          </a:p>
        </p:txBody>
      </p:sp>
    </p:spTree>
    <p:extLst>
      <p:ext uri="{BB962C8B-B14F-4D97-AF65-F5344CB8AC3E}">
        <p14:creationId xmlns:p14="http://schemas.microsoft.com/office/powerpoint/2010/main" val="25279244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4400" dirty="0"/>
              <a:t>Advantages and disadvantages of drill and practice, tutorials, simulation, gaming problem solving.?????</a:t>
            </a:r>
          </a:p>
        </p:txBody>
      </p:sp>
    </p:spTree>
    <p:extLst>
      <p:ext uri="{BB962C8B-B14F-4D97-AF65-F5344CB8AC3E}">
        <p14:creationId xmlns:p14="http://schemas.microsoft.com/office/powerpoint/2010/main" val="37869790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68368" y="373794"/>
            <a:ext cx="4708397" cy="930571"/>
          </a:xfrm>
        </p:spPr>
        <p:txBody>
          <a:bodyPr/>
          <a:lstStyle/>
          <a:p>
            <a:r>
              <a:rPr lang="en-US" dirty="0"/>
              <a:t>Authoring Interface</a:t>
            </a:r>
          </a:p>
        </p:txBody>
      </p:sp>
      <p:sp>
        <p:nvSpPr>
          <p:cNvPr id="3" name="Content Placeholder 2"/>
          <p:cNvSpPr>
            <a:spLocks noGrp="1"/>
          </p:cNvSpPr>
          <p:nvPr>
            <p:ph idx="1"/>
          </p:nvPr>
        </p:nvSpPr>
        <p:spPr>
          <a:xfrm>
            <a:off x="193239" y="1555301"/>
            <a:ext cx="9851713" cy="5074873"/>
          </a:xfrm>
        </p:spPr>
        <p:txBody>
          <a:bodyPr>
            <a:noAutofit/>
          </a:bodyPr>
          <a:lstStyle/>
          <a:p>
            <a:pPr algn="just"/>
            <a:r>
              <a:rPr lang="en-GB" sz="3200" dirty="0"/>
              <a:t>An interface is the platform where the use interacts with the system. The interface of an authoring tool plays an important role in attracting the users to use the tool. </a:t>
            </a:r>
          </a:p>
          <a:p>
            <a:pPr algn="just"/>
            <a:r>
              <a:rPr lang="en-GB" sz="3200" dirty="0"/>
              <a:t>An appropriate graphical user interface should be selected for different multimedia applications, which naturally have different roles to extend. In the authoring environment, the authoring interface is referred to as the </a:t>
            </a:r>
            <a:r>
              <a:rPr lang="en-GB" sz="3200" b="1" dirty="0"/>
              <a:t>authoring metaphor.</a:t>
            </a:r>
            <a:r>
              <a:rPr lang="en-GB" sz="3200" dirty="0"/>
              <a:t> </a:t>
            </a:r>
            <a:endParaRPr lang="en-US" sz="3200" dirty="0"/>
          </a:p>
        </p:txBody>
      </p:sp>
    </p:spTree>
    <p:extLst>
      <p:ext uri="{BB962C8B-B14F-4D97-AF65-F5344CB8AC3E}">
        <p14:creationId xmlns:p14="http://schemas.microsoft.com/office/powerpoint/2010/main" val="23876763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6321" y="266217"/>
            <a:ext cx="5092090" cy="984359"/>
          </a:xfrm>
        </p:spPr>
        <p:txBody>
          <a:bodyPr>
            <a:normAutofit/>
          </a:bodyPr>
          <a:lstStyle/>
          <a:p>
            <a:r>
              <a:rPr lang="en-US" sz="4000" b="1" dirty="0"/>
              <a:t>Interface Metaphors </a:t>
            </a:r>
          </a:p>
        </p:txBody>
      </p:sp>
      <p:sp>
        <p:nvSpPr>
          <p:cNvPr id="3" name="Content Placeholder 2"/>
          <p:cNvSpPr>
            <a:spLocks noGrp="1"/>
          </p:cNvSpPr>
          <p:nvPr>
            <p:ph idx="1"/>
          </p:nvPr>
        </p:nvSpPr>
        <p:spPr>
          <a:xfrm>
            <a:off x="677334" y="1828801"/>
            <a:ext cx="8596668" cy="4212562"/>
          </a:xfrm>
        </p:spPr>
        <p:txBody>
          <a:bodyPr>
            <a:normAutofit/>
          </a:bodyPr>
          <a:lstStyle/>
          <a:p>
            <a:pPr marL="742950" indent="-742950">
              <a:lnSpc>
                <a:spcPct val="150000"/>
              </a:lnSpc>
              <a:buFont typeface="+mj-lt"/>
              <a:buAutoNum type="arabicPeriod"/>
            </a:pPr>
            <a:r>
              <a:rPr lang="en-US" sz="3200" dirty="0"/>
              <a:t>Slide Show Metaphor</a:t>
            </a:r>
          </a:p>
          <a:p>
            <a:pPr marL="742950" indent="-742950">
              <a:lnSpc>
                <a:spcPct val="150000"/>
              </a:lnSpc>
              <a:buFont typeface="+mj-lt"/>
              <a:buAutoNum type="arabicPeriod"/>
            </a:pPr>
            <a:r>
              <a:rPr lang="en-GB" sz="3200" dirty="0"/>
              <a:t>Book Metaphor</a:t>
            </a:r>
          </a:p>
          <a:p>
            <a:pPr marL="742950" indent="-742950">
              <a:lnSpc>
                <a:spcPct val="150000"/>
              </a:lnSpc>
              <a:buFont typeface="+mj-lt"/>
              <a:buAutoNum type="arabicPeriod"/>
            </a:pPr>
            <a:r>
              <a:rPr lang="en-GB" sz="3200" dirty="0"/>
              <a:t>TimeLine Metaphor</a:t>
            </a:r>
          </a:p>
          <a:p>
            <a:pPr marL="742950" indent="-742950">
              <a:lnSpc>
                <a:spcPct val="150000"/>
              </a:lnSpc>
              <a:buFont typeface="+mj-lt"/>
              <a:buAutoNum type="arabicPeriod"/>
            </a:pPr>
            <a:r>
              <a:rPr lang="en-GB" sz="3200" dirty="0"/>
              <a:t>Icon Metaphor</a:t>
            </a:r>
          </a:p>
          <a:p>
            <a:endParaRPr lang="en-US" sz="3200" dirty="0"/>
          </a:p>
        </p:txBody>
      </p:sp>
    </p:spTree>
    <p:extLst>
      <p:ext uri="{BB962C8B-B14F-4D97-AF65-F5344CB8AC3E}">
        <p14:creationId xmlns:p14="http://schemas.microsoft.com/office/powerpoint/2010/main" val="37010554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6321" y="266217"/>
            <a:ext cx="5092090" cy="984359"/>
          </a:xfrm>
        </p:spPr>
        <p:txBody>
          <a:bodyPr>
            <a:normAutofit fontScale="90000"/>
          </a:bodyPr>
          <a:lstStyle/>
          <a:p>
            <a:r>
              <a:rPr lang="en-US" sz="4000" dirty="0"/>
              <a:t>Slide show metaphor</a:t>
            </a:r>
          </a:p>
        </p:txBody>
      </p:sp>
      <p:sp>
        <p:nvSpPr>
          <p:cNvPr id="3" name="Content Placeholder 2"/>
          <p:cNvSpPr>
            <a:spLocks noGrp="1"/>
          </p:cNvSpPr>
          <p:nvPr>
            <p:ph idx="1"/>
          </p:nvPr>
        </p:nvSpPr>
        <p:spPr>
          <a:xfrm>
            <a:off x="621743" y="1640542"/>
            <a:ext cx="8596668" cy="4239456"/>
          </a:xfrm>
        </p:spPr>
        <p:txBody>
          <a:bodyPr>
            <a:normAutofit/>
          </a:bodyPr>
          <a:lstStyle/>
          <a:p>
            <a:pPr algn="just"/>
            <a:r>
              <a:rPr lang="en-GB" sz="2800" dirty="0"/>
              <a:t>Each screen of a presentation is seen as a slide object. This metaphor is an excellent choice for authoring linear presentations. It is a linear presentation by default but can be used for somehow non-linear presentations. </a:t>
            </a:r>
          </a:p>
          <a:p>
            <a:pPr algn="just"/>
            <a:r>
              <a:rPr lang="en-GB" sz="2800" dirty="0"/>
              <a:t>Some examples of current tools that apply this metaphor are Microsoft’s PowerPoint and Lotus’s Freelance. </a:t>
            </a:r>
            <a:endParaRPr lang="en-US" sz="2800" dirty="0"/>
          </a:p>
          <a:p>
            <a:endParaRPr lang="en-US" sz="2800" dirty="0"/>
          </a:p>
        </p:txBody>
      </p:sp>
    </p:spTree>
    <p:extLst>
      <p:ext uri="{BB962C8B-B14F-4D97-AF65-F5344CB8AC3E}">
        <p14:creationId xmlns:p14="http://schemas.microsoft.com/office/powerpoint/2010/main" val="25442457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6321" y="266217"/>
            <a:ext cx="5092090" cy="984359"/>
          </a:xfrm>
        </p:spPr>
        <p:txBody>
          <a:bodyPr>
            <a:normAutofit/>
          </a:bodyPr>
          <a:lstStyle/>
          <a:p>
            <a:r>
              <a:rPr lang="en-US" sz="4000" b="1" dirty="0"/>
              <a:t>Book metaphor</a:t>
            </a:r>
          </a:p>
        </p:txBody>
      </p:sp>
      <p:sp>
        <p:nvSpPr>
          <p:cNvPr id="3" name="Content Placeholder 2"/>
          <p:cNvSpPr>
            <a:spLocks noGrp="1"/>
          </p:cNvSpPr>
          <p:nvPr>
            <p:ph idx="1"/>
          </p:nvPr>
        </p:nvSpPr>
        <p:spPr>
          <a:xfrm>
            <a:off x="677334" y="1694329"/>
            <a:ext cx="9502090" cy="4935845"/>
          </a:xfrm>
        </p:spPr>
        <p:txBody>
          <a:bodyPr>
            <a:noAutofit/>
          </a:bodyPr>
          <a:lstStyle/>
          <a:p>
            <a:pPr algn="just"/>
            <a:r>
              <a:rPr lang="en-GB" sz="3200" dirty="0"/>
              <a:t>In this metaphor, the application is thought of as a book containing many numbers of pages, which can contain any number of multimedia objects and interactivity. </a:t>
            </a:r>
          </a:p>
          <a:p>
            <a:pPr algn="just"/>
            <a:r>
              <a:rPr lang="en-GB" sz="3200" dirty="0"/>
              <a:t> It is suitable for </a:t>
            </a:r>
            <a:r>
              <a:rPr lang="en-GB" sz="3200" dirty="0" err="1"/>
              <a:t>Encyclopedia</a:t>
            </a:r>
            <a:r>
              <a:rPr lang="en-GB" sz="3200" dirty="0"/>
              <a:t>, fairy tale story, etc. It also requires programming skills of a certain level. </a:t>
            </a:r>
          </a:p>
          <a:p>
            <a:pPr algn="just"/>
            <a:r>
              <a:rPr lang="en-GB" sz="3200" dirty="0"/>
              <a:t>An example of such a tool is the Asymetrix’s </a:t>
            </a:r>
            <a:r>
              <a:rPr lang="en-GB" sz="3200" dirty="0" err="1"/>
              <a:t>Toolbook</a:t>
            </a:r>
            <a:endParaRPr lang="en-US" sz="3200" dirty="0"/>
          </a:p>
          <a:p>
            <a:pPr algn="just"/>
            <a:endParaRPr lang="en-US" sz="3200" dirty="0"/>
          </a:p>
        </p:txBody>
      </p:sp>
    </p:spTree>
    <p:extLst>
      <p:ext uri="{BB962C8B-B14F-4D97-AF65-F5344CB8AC3E}">
        <p14:creationId xmlns:p14="http://schemas.microsoft.com/office/powerpoint/2010/main" val="12560045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6321" y="266217"/>
            <a:ext cx="5092090" cy="997807"/>
          </a:xfrm>
        </p:spPr>
        <p:txBody>
          <a:bodyPr/>
          <a:lstStyle/>
          <a:p>
            <a:r>
              <a:rPr lang="en-US" dirty="0"/>
              <a:t>TimeLine metaphor</a:t>
            </a:r>
          </a:p>
        </p:txBody>
      </p:sp>
      <p:sp>
        <p:nvSpPr>
          <p:cNvPr id="3" name="Content Placeholder 2"/>
          <p:cNvSpPr>
            <a:spLocks noGrp="1"/>
          </p:cNvSpPr>
          <p:nvPr>
            <p:ph idx="1"/>
          </p:nvPr>
        </p:nvSpPr>
        <p:spPr>
          <a:xfrm>
            <a:off x="621743" y="1950390"/>
            <a:ext cx="8596668" cy="4100786"/>
          </a:xfrm>
        </p:spPr>
        <p:txBody>
          <a:bodyPr>
            <a:noAutofit/>
          </a:bodyPr>
          <a:lstStyle/>
          <a:p>
            <a:pPr algn="just"/>
            <a:r>
              <a:rPr lang="en-GB" sz="3200" dirty="0"/>
              <a:t>A timeline metaphor works with a time scale diagram and places objects and events on the time scale in correct relationship. It is especially valuable when dealing with a number of dynamic activities. Some authoring tools that apply this metaphor are Macromedia Director and Action!</a:t>
            </a:r>
            <a:endParaRPr lang="en-US" sz="3200" dirty="0"/>
          </a:p>
          <a:p>
            <a:pPr algn="just"/>
            <a:endParaRPr lang="en-US" sz="3200" dirty="0"/>
          </a:p>
        </p:txBody>
      </p:sp>
    </p:spTree>
    <p:extLst>
      <p:ext uri="{BB962C8B-B14F-4D97-AF65-F5344CB8AC3E}">
        <p14:creationId xmlns:p14="http://schemas.microsoft.com/office/powerpoint/2010/main" val="193122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6321" y="266217"/>
            <a:ext cx="3968808" cy="1011254"/>
          </a:xfrm>
        </p:spPr>
        <p:txBody>
          <a:bodyPr/>
          <a:lstStyle/>
          <a:p>
            <a:r>
              <a:rPr lang="en-US" dirty="0"/>
              <a:t>Icon Metaphor</a:t>
            </a:r>
          </a:p>
        </p:txBody>
      </p:sp>
      <p:sp>
        <p:nvSpPr>
          <p:cNvPr id="3" name="Content Placeholder 2"/>
          <p:cNvSpPr>
            <a:spLocks noGrp="1"/>
          </p:cNvSpPr>
          <p:nvPr>
            <p:ph idx="1"/>
          </p:nvPr>
        </p:nvSpPr>
        <p:spPr>
          <a:xfrm>
            <a:off x="677334" y="1613647"/>
            <a:ext cx="9004548" cy="4427715"/>
          </a:xfrm>
        </p:spPr>
        <p:txBody>
          <a:bodyPr>
            <a:normAutofit/>
          </a:bodyPr>
          <a:lstStyle/>
          <a:p>
            <a:pPr algn="just"/>
            <a:r>
              <a:rPr lang="en-GB" sz="2800" dirty="0"/>
              <a:t>The application structure is built by dragging icons from an icon palette into the workplace to form a flow-line of icons. These icons represent objects and events that will occur according to the sequence of the arrangement of the icons. </a:t>
            </a:r>
          </a:p>
          <a:p>
            <a:pPr algn="just"/>
            <a:r>
              <a:rPr lang="en-GB" sz="2800" dirty="0"/>
              <a:t>For example, </a:t>
            </a:r>
            <a:r>
              <a:rPr lang="en-GB" sz="2800" dirty="0" err="1"/>
              <a:t>AimTech’s</a:t>
            </a:r>
            <a:r>
              <a:rPr lang="en-GB" sz="2800" dirty="0"/>
              <a:t> </a:t>
            </a:r>
            <a:r>
              <a:rPr lang="en-GB" sz="2800" dirty="0" err="1"/>
              <a:t>IconAuthor</a:t>
            </a:r>
            <a:r>
              <a:rPr lang="en-GB" sz="2800" dirty="0"/>
              <a:t> and Macromedia </a:t>
            </a:r>
            <a:r>
              <a:rPr lang="en-GB" sz="2800" dirty="0" err="1"/>
              <a:t>Authorware</a:t>
            </a:r>
            <a:r>
              <a:rPr lang="en-GB" sz="2800" dirty="0"/>
              <a:t>.</a:t>
            </a:r>
            <a:endParaRPr lang="en-US" sz="2800" dirty="0"/>
          </a:p>
          <a:p>
            <a:pPr algn="just"/>
            <a:endParaRPr lang="en-US" sz="2800" dirty="0"/>
          </a:p>
        </p:txBody>
      </p:sp>
    </p:spTree>
    <p:extLst>
      <p:ext uri="{BB962C8B-B14F-4D97-AF65-F5344CB8AC3E}">
        <p14:creationId xmlns:p14="http://schemas.microsoft.com/office/powerpoint/2010/main" val="22771561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2999573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80608774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C24F515-356D-4532-BE08-F6D7771916F0}">
  <ds:schemaRefs>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16c05727-aa75-4e4a-9b5f-8a80a1165891"/>
    <ds:schemaRef ds:uri="http://purl.org/dc/dcmitype/"/>
    <ds:schemaRef ds:uri="http://schemas.microsoft.com/office/infopath/2007/PartnerControls"/>
    <ds:schemaRef ds:uri="71af3243-3dd4-4a8d-8c0d-dd76da1f02a5"/>
    <ds:schemaRef ds:uri="http://www.w3.org/XML/1998/namespace"/>
    <ds:schemaRef ds:uri="http://purl.org/dc/terms/"/>
  </ds:schemaRefs>
</ds:datastoreItem>
</file>

<file path=customXml/itemProps2.xml><?xml version="1.0" encoding="utf-8"?>
<ds:datastoreItem xmlns:ds="http://schemas.openxmlformats.org/officeDocument/2006/customXml" ds:itemID="{83E04B51-1D33-4F14-BBD7-79D7D27E2E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AEF1282-A6E9-4912-8AB9-8ED69BF7097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 design</Template>
  <TotalTime>712</TotalTime>
  <Words>1681</Words>
  <Application>Microsoft Office PowerPoint</Application>
  <PresentationFormat>Widescreen</PresentationFormat>
  <Paragraphs>159</Paragraphs>
  <Slides>46</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Arial</vt:lpstr>
      <vt:lpstr>Berlin Sans FB Demi</vt:lpstr>
      <vt:lpstr>Calibri</vt:lpstr>
      <vt:lpstr>Trebuchet MS</vt:lpstr>
      <vt:lpstr>Wingdings 3</vt:lpstr>
      <vt:lpstr>Facet</vt:lpstr>
      <vt:lpstr>MULTIMEDIA AUTHORING IN EDUCATION</vt:lpstr>
      <vt:lpstr>OBJECTIVES</vt:lpstr>
      <vt:lpstr>Multimedia Defined</vt:lpstr>
      <vt:lpstr>MULTIMEDIA</vt:lpstr>
      <vt:lpstr>ELEMENTS OF MULTIMEDIA</vt:lpstr>
      <vt:lpstr>TEXT</vt:lpstr>
      <vt:lpstr>TEXT </vt:lpstr>
      <vt:lpstr>Graphics </vt:lpstr>
      <vt:lpstr>PowerPoint Presentation</vt:lpstr>
      <vt:lpstr>Audio</vt:lpstr>
      <vt:lpstr>PowerPoint Presentation</vt:lpstr>
      <vt:lpstr>VIDEO</vt:lpstr>
      <vt:lpstr>PowerPoint Presentation</vt:lpstr>
      <vt:lpstr>ANIMATIONS</vt:lpstr>
      <vt:lpstr>MASS MEDIA VS. MULTIMEDIA</vt:lpstr>
      <vt:lpstr>Use of multimedia in education</vt:lpstr>
      <vt:lpstr>Discussion</vt:lpstr>
      <vt:lpstr>Why multimedia in education?</vt:lpstr>
      <vt:lpstr>Why multimedia?</vt:lpstr>
      <vt:lpstr>Challenges</vt:lpstr>
      <vt:lpstr>PowerPoint Presentation</vt:lpstr>
      <vt:lpstr>Downloading Multimedia From the Web</vt:lpstr>
      <vt:lpstr>Where to find Images </vt:lpstr>
      <vt:lpstr>Downloading videos From the Web</vt:lpstr>
      <vt:lpstr>Downloading Video From The Web</vt:lpstr>
      <vt:lpstr>Authoring Systems</vt:lpstr>
      <vt:lpstr>Multimedia Authoring</vt:lpstr>
      <vt:lpstr>Advantages of Authoring Systems</vt:lpstr>
      <vt:lpstr>How Authoring Tools Impact Learning</vt:lpstr>
      <vt:lpstr>Features of Authoring Tools</vt:lpstr>
      <vt:lpstr>COURSEWARE</vt:lpstr>
      <vt:lpstr>Categories of Courseware</vt:lpstr>
      <vt:lpstr>Drill and Practice</vt:lpstr>
      <vt:lpstr>Tutorial </vt:lpstr>
      <vt:lpstr>Problem Solving  </vt:lpstr>
      <vt:lpstr>Simulation </vt:lpstr>
      <vt:lpstr>Gaming </vt:lpstr>
      <vt:lpstr>PowerPoint Presentation</vt:lpstr>
      <vt:lpstr>Authoring Interface</vt:lpstr>
      <vt:lpstr>Interface Metaphors </vt:lpstr>
      <vt:lpstr>Slide show metaphor</vt:lpstr>
      <vt:lpstr>Book metaphor</vt:lpstr>
      <vt:lpstr>TimeLine metaphor</vt:lpstr>
      <vt:lpstr>Icon Metaphor</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Lorem Ipsum</dc:title>
  <dc:creator>IB</dc:creator>
  <cp:lastModifiedBy>inantomah@hotmail.com</cp:lastModifiedBy>
  <cp:revision>82</cp:revision>
  <dcterms:created xsi:type="dcterms:W3CDTF">2021-01-19T13:00:12Z</dcterms:created>
  <dcterms:modified xsi:type="dcterms:W3CDTF">2024-11-19T11:05:38Z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