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1" r:id="rId3"/>
    <p:sldId id="282" r:id="rId4"/>
    <p:sldId id="283"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299" r:id="rId21"/>
    <p:sldId id="301" r:id="rId22"/>
    <p:sldId id="302" r:id="rId23"/>
    <p:sldId id="303" r:id="rId24"/>
    <p:sldId id="257" r:id="rId25"/>
    <p:sldId id="258" r:id="rId26"/>
    <p:sldId id="259" r:id="rId27"/>
    <p:sldId id="260" r:id="rId28"/>
    <p:sldId id="261" r:id="rId29"/>
    <p:sldId id="262" r:id="rId30"/>
    <p:sldId id="304" r:id="rId31"/>
    <p:sldId id="263" r:id="rId32"/>
    <p:sldId id="264" r:id="rId33"/>
    <p:sldId id="265" r:id="rId34"/>
    <p:sldId id="266" r:id="rId35"/>
    <p:sldId id="267" r:id="rId36"/>
    <p:sldId id="268" r:id="rId37"/>
    <p:sldId id="269" r:id="rId38"/>
    <p:sldId id="270" r:id="rId39"/>
    <p:sldId id="271" r:id="rId40"/>
    <p:sldId id="272" r:id="rId41"/>
    <p:sldId id="273" r:id="rId42"/>
    <p:sldId id="274" r:id="rId43"/>
    <p:sldId id="275" r:id="rId44"/>
    <p:sldId id="276" r:id="rId45"/>
    <p:sldId id="277" r:id="rId46"/>
    <p:sldId id="278" r:id="rId47"/>
    <p:sldId id="279"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3379738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816480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95295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DA48BA8-A0A2-46F4-8BD1-37551B96294D}" type="datetimeFigureOut">
              <a:rPr lang="en-US" smtClean="0"/>
              <a:t>6/9/2024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2844740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DA48BA8-A0A2-46F4-8BD1-37551B96294D}" type="datetimeFigureOut">
              <a:rPr lang="en-US" smtClean="0"/>
              <a:t>6/9/2024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532993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DA48BA8-A0A2-46F4-8BD1-37551B96294D}" type="datetimeFigureOut">
              <a:rPr lang="en-US" smtClean="0"/>
              <a:t>6/9/2024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37070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A48BA8-A0A2-46F4-8BD1-37551B96294D}" type="datetimeFigureOut">
              <a:rPr lang="en-US" smtClean="0"/>
              <a:t>6/9/2024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1632097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DA48BA8-A0A2-46F4-8BD1-37551B96294D}" type="datetimeFigureOut">
              <a:rPr lang="en-US" smtClean="0"/>
              <a:t>6/9/2024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2414397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DA48BA8-A0A2-46F4-8BD1-37551B96294D}" type="datetimeFigureOut">
              <a:rPr lang="en-US" smtClean="0"/>
              <a:t>6/9/2024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2741843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1882566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12794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18501235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827564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1306698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641424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DA48BA8-A0A2-46F4-8BD1-37551B96294D}" type="datetimeFigureOut">
              <a:rPr lang="en-US" smtClean="0"/>
              <a:t>6/9/2024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FA0D46-6F09-4CD5-B464-643FD0AD302B}" type="slidenum">
              <a:rPr lang="en-US" smtClean="0"/>
              <a:t>‹#›</a:t>
            </a:fld>
            <a:endParaRPr lang="en-US"/>
          </a:p>
        </p:txBody>
      </p:sp>
    </p:spTree>
    <p:extLst>
      <p:ext uri="{BB962C8B-B14F-4D97-AF65-F5344CB8AC3E}">
        <p14:creationId xmlns:p14="http://schemas.microsoft.com/office/powerpoint/2010/main" val="2545818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DA48BA8-A0A2-46F4-8BD1-37551B96294D}" type="datetimeFigureOut">
              <a:rPr lang="en-US" smtClean="0"/>
              <a:t>6/9/2024</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CFA0D46-6F09-4CD5-B464-643FD0AD302B}" type="slidenum">
              <a:rPr lang="en-US" smtClean="0"/>
              <a:t>‹#›</a:t>
            </a:fld>
            <a:endParaRPr lang="en-US"/>
          </a:p>
        </p:txBody>
      </p:sp>
    </p:spTree>
    <p:extLst>
      <p:ext uri="{BB962C8B-B14F-4D97-AF65-F5344CB8AC3E}">
        <p14:creationId xmlns:p14="http://schemas.microsoft.com/office/powerpoint/2010/main" val="7491225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dirty="0" smtClean="0"/>
              <a:t>DATA BASE MANAGEMENT SYSTEM</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0449612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File-Base System </a:t>
            </a:r>
            <a:endParaRPr lang="en-US" b="1" dirty="0"/>
          </a:p>
        </p:txBody>
      </p:sp>
      <p:sp>
        <p:nvSpPr>
          <p:cNvPr id="3" name="Content Placeholder 2"/>
          <p:cNvSpPr>
            <a:spLocks noGrp="1"/>
          </p:cNvSpPr>
          <p:nvPr>
            <p:ph idx="1"/>
          </p:nvPr>
        </p:nvSpPr>
        <p:spPr>
          <a:xfrm>
            <a:off x="677334" y="2259874"/>
            <a:ext cx="8596668" cy="2508070"/>
          </a:xfrm>
        </p:spPr>
        <p:txBody>
          <a:bodyPr>
            <a:normAutofit/>
          </a:bodyPr>
          <a:lstStyle/>
          <a:p>
            <a:r>
              <a:rPr lang="en-US" sz="3200" dirty="0" smtClean="0"/>
              <a:t>File bases system is the method for storing and organizing computer files and the data they contain to make it easy to find, access them. </a:t>
            </a:r>
            <a:endParaRPr lang="en-US" sz="3200" dirty="0"/>
          </a:p>
        </p:txBody>
      </p:sp>
    </p:spTree>
    <p:extLst>
      <p:ext uri="{BB962C8B-B14F-4D97-AF65-F5344CB8AC3E}">
        <p14:creationId xmlns:p14="http://schemas.microsoft.com/office/powerpoint/2010/main" val="12189677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Characteristics of file-based system</a:t>
            </a:r>
            <a:endParaRPr lang="en-US" b="1" dirty="0"/>
          </a:p>
        </p:txBody>
      </p:sp>
      <p:sp>
        <p:nvSpPr>
          <p:cNvPr id="3" name="Content Placeholder 2"/>
          <p:cNvSpPr>
            <a:spLocks noGrp="1"/>
          </p:cNvSpPr>
          <p:nvPr>
            <p:ph idx="1"/>
          </p:nvPr>
        </p:nvSpPr>
        <p:spPr/>
        <p:txBody>
          <a:bodyPr>
            <a:normAutofit/>
          </a:bodyPr>
          <a:lstStyle/>
          <a:p>
            <a:r>
              <a:rPr lang="en-US" sz="2800" dirty="0" smtClean="0"/>
              <a:t>It is a group of files storing data of an organization.</a:t>
            </a:r>
          </a:p>
          <a:p>
            <a:r>
              <a:rPr lang="en-US" sz="2800" dirty="0" smtClean="0"/>
              <a:t>Each file is independent from one another</a:t>
            </a:r>
          </a:p>
          <a:p>
            <a:r>
              <a:rPr lang="en-US" sz="2800" dirty="0" smtClean="0"/>
              <a:t>Each file is called a flat file</a:t>
            </a:r>
          </a:p>
          <a:p>
            <a:r>
              <a:rPr lang="en-US" sz="2800" dirty="0" smtClean="0"/>
              <a:t>Each file contains and processes information for one specific function such as accounting.</a:t>
            </a:r>
            <a:endParaRPr lang="en-US" sz="2800" dirty="0"/>
          </a:p>
        </p:txBody>
      </p:sp>
    </p:spTree>
    <p:extLst>
      <p:ext uri="{BB962C8B-B14F-4D97-AF65-F5344CB8AC3E}">
        <p14:creationId xmlns:p14="http://schemas.microsoft.com/office/powerpoint/2010/main" val="7499109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Advantages of file-based system</a:t>
            </a:r>
            <a:endParaRPr lang="en-US" b="1" dirty="0"/>
          </a:p>
        </p:txBody>
      </p:sp>
      <p:sp>
        <p:nvSpPr>
          <p:cNvPr id="3" name="Content Placeholder 2"/>
          <p:cNvSpPr>
            <a:spLocks noGrp="1"/>
          </p:cNvSpPr>
          <p:nvPr>
            <p:ph idx="1"/>
          </p:nvPr>
        </p:nvSpPr>
        <p:spPr/>
        <p:txBody>
          <a:bodyPr>
            <a:normAutofit/>
          </a:bodyPr>
          <a:lstStyle/>
          <a:p>
            <a:r>
              <a:rPr lang="en-US" sz="2800" dirty="0" smtClean="0"/>
              <a:t>Back up </a:t>
            </a:r>
          </a:p>
          <a:p>
            <a:r>
              <a:rPr lang="en-US" sz="2800" dirty="0" smtClean="0"/>
              <a:t>Sharing </a:t>
            </a:r>
          </a:p>
          <a:p>
            <a:r>
              <a:rPr lang="en-US" sz="2800" dirty="0" smtClean="0"/>
              <a:t>Editing </a:t>
            </a:r>
          </a:p>
          <a:p>
            <a:r>
              <a:rPr lang="en-US" sz="2800" dirty="0" smtClean="0"/>
              <a:t>Remote access </a:t>
            </a:r>
            <a:endParaRPr lang="en-US" sz="2800" dirty="0"/>
          </a:p>
        </p:txBody>
      </p:sp>
    </p:spTree>
    <p:extLst>
      <p:ext uri="{BB962C8B-B14F-4D97-AF65-F5344CB8AC3E}">
        <p14:creationId xmlns:p14="http://schemas.microsoft.com/office/powerpoint/2010/main" val="38187796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Limitations of file-based system</a:t>
            </a:r>
            <a:endParaRPr lang="en-US" b="1" dirty="0"/>
          </a:p>
        </p:txBody>
      </p:sp>
      <p:sp>
        <p:nvSpPr>
          <p:cNvPr id="3" name="Content Placeholder 2"/>
          <p:cNvSpPr>
            <a:spLocks noGrp="1"/>
          </p:cNvSpPr>
          <p:nvPr>
            <p:ph idx="1"/>
          </p:nvPr>
        </p:nvSpPr>
        <p:spPr/>
        <p:txBody>
          <a:bodyPr>
            <a:normAutofit/>
          </a:bodyPr>
          <a:lstStyle/>
          <a:p>
            <a:r>
              <a:rPr lang="en-US" sz="2400" dirty="0" smtClean="0"/>
              <a:t>Security problems </a:t>
            </a:r>
          </a:p>
          <a:p>
            <a:r>
              <a:rPr lang="en-US" sz="2400" dirty="0" smtClean="0"/>
              <a:t>Duplication of data </a:t>
            </a:r>
          </a:p>
          <a:p>
            <a:r>
              <a:rPr lang="en-US" sz="2400" dirty="0" smtClean="0"/>
              <a:t>Concurrency problems; when two or more users read the data simultaneously </a:t>
            </a:r>
          </a:p>
          <a:p>
            <a:r>
              <a:rPr lang="en-US" sz="2400" dirty="0" smtClean="0"/>
              <a:t>Difficulty in accessing data </a:t>
            </a:r>
          </a:p>
          <a:p>
            <a:r>
              <a:rPr lang="en-US" sz="2400" dirty="0" smtClean="0"/>
              <a:t>Limited Data sharing </a:t>
            </a:r>
          </a:p>
          <a:p>
            <a:r>
              <a:rPr lang="en-US" sz="2400" dirty="0" smtClean="0"/>
              <a:t>Data Redundancy </a:t>
            </a:r>
          </a:p>
          <a:p>
            <a:r>
              <a:rPr lang="en-US" sz="2400" dirty="0" smtClean="0"/>
              <a:t>Data Inconsistency</a:t>
            </a:r>
            <a:endParaRPr lang="en-US" sz="2400" dirty="0"/>
          </a:p>
        </p:txBody>
      </p:sp>
    </p:spTree>
    <p:extLst>
      <p:ext uri="{BB962C8B-B14F-4D97-AF65-F5344CB8AC3E}">
        <p14:creationId xmlns:p14="http://schemas.microsoft.com/office/powerpoint/2010/main" val="2535814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DBMS</a:t>
            </a:r>
            <a:endParaRPr lang="en-US" b="1" dirty="0"/>
          </a:p>
        </p:txBody>
      </p:sp>
      <p:sp>
        <p:nvSpPr>
          <p:cNvPr id="3" name="Content Placeholder 2"/>
          <p:cNvSpPr>
            <a:spLocks noGrp="1"/>
          </p:cNvSpPr>
          <p:nvPr>
            <p:ph idx="1"/>
          </p:nvPr>
        </p:nvSpPr>
        <p:spPr/>
        <p:txBody>
          <a:bodyPr>
            <a:normAutofit/>
          </a:bodyPr>
          <a:lstStyle/>
          <a:p>
            <a:r>
              <a:rPr lang="en-US" sz="2800" dirty="0" smtClean="0"/>
              <a:t>DBMS is a collection of programs that enables users to create and maintain a database.</a:t>
            </a:r>
          </a:p>
          <a:p>
            <a:r>
              <a:rPr lang="en-US" sz="2800" dirty="0" smtClean="0"/>
              <a:t>Constructing the data base is the process of storing the data on some storage medium that is controlled by the DBMS</a:t>
            </a:r>
          </a:p>
          <a:p>
            <a:r>
              <a:rPr lang="en-US" sz="2800" dirty="0" smtClean="0"/>
              <a:t>Manipulating database includes functions such as querying the database.</a:t>
            </a:r>
          </a:p>
        </p:txBody>
      </p:sp>
    </p:spTree>
    <p:extLst>
      <p:ext uri="{BB962C8B-B14F-4D97-AF65-F5344CB8AC3E}">
        <p14:creationId xmlns:p14="http://schemas.microsoft.com/office/powerpoint/2010/main" val="13246059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Types of Database</a:t>
            </a:r>
            <a:endParaRPr lang="en-US" b="1" dirty="0"/>
          </a:p>
        </p:txBody>
      </p:sp>
      <p:sp>
        <p:nvSpPr>
          <p:cNvPr id="3" name="Content Placeholder 2"/>
          <p:cNvSpPr>
            <a:spLocks noGrp="1"/>
          </p:cNvSpPr>
          <p:nvPr>
            <p:ph idx="1"/>
          </p:nvPr>
        </p:nvSpPr>
        <p:spPr>
          <a:xfrm>
            <a:off x="677334" y="2312126"/>
            <a:ext cx="8596668" cy="3729236"/>
          </a:xfrm>
        </p:spPr>
        <p:txBody>
          <a:bodyPr>
            <a:normAutofit/>
          </a:bodyPr>
          <a:lstStyle/>
          <a:p>
            <a:r>
              <a:rPr lang="en-US" sz="2800" dirty="0" smtClean="0"/>
              <a:t>Relational DBMS</a:t>
            </a:r>
          </a:p>
          <a:p>
            <a:r>
              <a:rPr lang="en-US" sz="2800" dirty="0" smtClean="0"/>
              <a:t>Network DBMS</a:t>
            </a:r>
          </a:p>
          <a:p>
            <a:r>
              <a:rPr lang="en-US" sz="2800" dirty="0" smtClean="0"/>
              <a:t>Object oriented DBMS</a:t>
            </a:r>
          </a:p>
          <a:p>
            <a:r>
              <a:rPr lang="en-US" sz="2800" dirty="0" smtClean="0"/>
              <a:t>Hierarchical DBMS</a:t>
            </a:r>
          </a:p>
          <a:p>
            <a:r>
              <a:rPr lang="en-US" sz="2800" dirty="0" smtClean="0"/>
              <a:t>Note; The collection of database and DBMS software is called Database Application System</a:t>
            </a:r>
            <a:endParaRPr lang="en-US" sz="2800" dirty="0"/>
          </a:p>
        </p:txBody>
      </p:sp>
    </p:spTree>
    <p:extLst>
      <p:ext uri="{BB962C8B-B14F-4D97-AF65-F5344CB8AC3E}">
        <p14:creationId xmlns:p14="http://schemas.microsoft.com/office/powerpoint/2010/main" val="10396668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Roles of Database in an Organization </a:t>
            </a:r>
            <a:endParaRPr lang="en-US" b="1" dirty="0"/>
          </a:p>
        </p:txBody>
      </p:sp>
      <p:sp>
        <p:nvSpPr>
          <p:cNvPr id="3" name="Content Placeholder 2"/>
          <p:cNvSpPr>
            <a:spLocks noGrp="1"/>
          </p:cNvSpPr>
          <p:nvPr>
            <p:ph idx="1"/>
          </p:nvPr>
        </p:nvSpPr>
        <p:spPr/>
        <p:txBody>
          <a:bodyPr>
            <a:normAutofit/>
          </a:bodyPr>
          <a:lstStyle/>
          <a:p>
            <a:r>
              <a:rPr lang="en-US" sz="2400" dirty="0" smtClean="0"/>
              <a:t>It helps managers to search data in a better manner.</a:t>
            </a:r>
          </a:p>
          <a:p>
            <a:r>
              <a:rPr lang="en-US" sz="2400" dirty="0" smtClean="0"/>
              <a:t>Provide the information necessary for tactical decisions and planning</a:t>
            </a:r>
          </a:p>
          <a:p>
            <a:r>
              <a:rPr lang="en-US" sz="2400" dirty="0" smtClean="0"/>
              <a:t>Easy to draw a database for an organization </a:t>
            </a:r>
            <a:endParaRPr lang="en-US" sz="2400" dirty="0"/>
          </a:p>
        </p:txBody>
      </p:sp>
    </p:spTree>
    <p:extLst>
      <p:ext uri="{BB962C8B-B14F-4D97-AF65-F5344CB8AC3E}">
        <p14:creationId xmlns:p14="http://schemas.microsoft.com/office/powerpoint/2010/main" val="29367713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Components of Database </a:t>
            </a:r>
            <a:endParaRPr lang="en-US" b="1" dirty="0"/>
          </a:p>
        </p:txBody>
      </p:sp>
      <p:sp>
        <p:nvSpPr>
          <p:cNvPr id="3" name="Content Placeholder 2"/>
          <p:cNvSpPr>
            <a:spLocks noGrp="1"/>
          </p:cNvSpPr>
          <p:nvPr>
            <p:ph idx="1"/>
          </p:nvPr>
        </p:nvSpPr>
        <p:spPr/>
        <p:txBody>
          <a:bodyPr>
            <a:normAutofit/>
          </a:bodyPr>
          <a:lstStyle/>
          <a:p>
            <a:r>
              <a:rPr lang="en-US" sz="2800" dirty="0" smtClean="0"/>
              <a:t>Hardware</a:t>
            </a:r>
          </a:p>
          <a:p>
            <a:r>
              <a:rPr lang="en-US" sz="2800" dirty="0" smtClean="0"/>
              <a:t>Software </a:t>
            </a:r>
          </a:p>
          <a:p>
            <a:r>
              <a:rPr lang="en-US" sz="2800" dirty="0" smtClean="0"/>
              <a:t>Data </a:t>
            </a:r>
          </a:p>
          <a:p>
            <a:r>
              <a:rPr lang="en-US" sz="2800" dirty="0" smtClean="0"/>
              <a:t>Procedure </a:t>
            </a:r>
          </a:p>
          <a:p>
            <a:r>
              <a:rPr lang="en-US" sz="2800" dirty="0" smtClean="0"/>
              <a:t>People </a:t>
            </a:r>
            <a:endParaRPr lang="en-US" sz="2800" dirty="0"/>
          </a:p>
        </p:txBody>
      </p:sp>
    </p:spTree>
    <p:extLst>
      <p:ext uri="{BB962C8B-B14F-4D97-AF65-F5344CB8AC3E}">
        <p14:creationId xmlns:p14="http://schemas.microsoft.com/office/powerpoint/2010/main" val="39639697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Advantages and Disadvantages of DBMS</a:t>
            </a:r>
            <a:endParaRPr lang="en-US" b="1" dirty="0"/>
          </a:p>
        </p:txBody>
      </p:sp>
      <p:sp>
        <p:nvSpPr>
          <p:cNvPr id="3" name="Content Placeholder 2"/>
          <p:cNvSpPr>
            <a:spLocks noGrp="1"/>
          </p:cNvSpPr>
          <p:nvPr>
            <p:ph idx="1"/>
          </p:nvPr>
        </p:nvSpPr>
        <p:spPr>
          <a:xfrm>
            <a:off x="677334" y="2116183"/>
            <a:ext cx="8596668" cy="3925179"/>
          </a:xfrm>
        </p:spPr>
        <p:txBody>
          <a:bodyPr>
            <a:normAutofit/>
          </a:bodyPr>
          <a:lstStyle/>
          <a:p>
            <a:r>
              <a:rPr lang="en-US" sz="2800" dirty="0" smtClean="0"/>
              <a:t>Cash recovery </a:t>
            </a:r>
          </a:p>
          <a:p>
            <a:r>
              <a:rPr lang="en-US" sz="2800" dirty="0" smtClean="0"/>
              <a:t>Data security </a:t>
            </a:r>
          </a:p>
          <a:p>
            <a:r>
              <a:rPr lang="en-US" sz="2800" dirty="0" smtClean="0"/>
              <a:t>Data Integrity </a:t>
            </a:r>
          </a:p>
          <a:p>
            <a:r>
              <a:rPr lang="en-US" sz="2800" dirty="0" smtClean="0"/>
              <a:t>Concurrent access </a:t>
            </a:r>
          </a:p>
        </p:txBody>
      </p:sp>
    </p:spTree>
    <p:extLst>
      <p:ext uri="{BB962C8B-B14F-4D97-AF65-F5344CB8AC3E}">
        <p14:creationId xmlns:p14="http://schemas.microsoft.com/office/powerpoint/2010/main" val="410981018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Disadvantages </a:t>
            </a:r>
            <a:endParaRPr lang="en-US" b="1" dirty="0"/>
          </a:p>
        </p:txBody>
      </p:sp>
      <p:sp>
        <p:nvSpPr>
          <p:cNvPr id="3" name="Content Placeholder 2"/>
          <p:cNvSpPr>
            <a:spLocks noGrp="1"/>
          </p:cNvSpPr>
          <p:nvPr>
            <p:ph idx="1"/>
          </p:nvPr>
        </p:nvSpPr>
        <p:spPr/>
        <p:txBody>
          <a:bodyPr>
            <a:normAutofit/>
          </a:bodyPr>
          <a:lstStyle/>
          <a:p>
            <a:r>
              <a:rPr lang="en-US" sz="2800" dirty="0" smtClean="0"/>
              <a:t>Cost </a:t>
            </a:r>
          </a:p>
          <a:p>
            <a:r>
              <a:rPr lang="en-US" sz="2800" dirty="0" smtClean="0"/>
              <a:t>Qualified Personnel</a:t>
            </a:r>
          </a:p>
          <a:p>
            <a:r>
              <a:rPr lang="en-US" sz="2800" dirty="0" smtClean="0"/>
              <a:t>Complexity </a:t>
            </a:r>
          </a:p>
          <a:p>
            <a:r>
              <a:rPr lang="en-US" sz="2800" dirty="0" smtClean="0"/>
              <a:t>Lower efficiency </a:t>
            </a:r>
            <a:endParaRPr lang="en-US" sz="2800" dirty="0"/>
          </a:p>
        </p:txBody>
      </p:sp>
    </p:spTree>
    <p:extLst>
      <p:ext uri="{BB962C8B-B14F-4D97-AF65-F5344CB8AC3E}">
        <p14:creationId xmlns:p14="http://schemas.microsoft.com/office/powerpoint/2010/main" val="401622367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Database Model</a:t>
            </a:r>
            <a:endParaRPr lang="en-US" b="1" dirty="0"/>
          </a:p>
        </p:txBody>
      </p:sp>
      <p:sp>
        <p:nvSpPr>
          <p:cNvPr id="3" name="Content Placeholder 2"/>
          <p:cNvSpPr>
            <a:spLocks noGrp="1"/>
          </p:cNvSpPr>
          <p:nvPr>
            <p:ph idx="1"/>
          </p:nvPr>
        </p:nvSpPr>
        <p:spPr/>
        <p:txBody>
          <a:bodyPr>
            <a:normAutofit/>
          </a:bodyPr>
          <a:lstStyle/>
          <a:p>
            <a:r>
              <a:rPr lang="en-US" sz="3200" dirty="0" smtClean="0"/>
              <a:t>A database model defines the logical design and structure of a database and also defines how data will be stored, accessed and updated in a database management system.</a:t>
            </a:r>
            <a:endParaRPr lang="en-US" sz="3200" dirty="0"/>
          </a:p>
        </p:txBody>
      </p:sp>
    </p:spTree>
    <p:extLst>
      <p:ext uri="{BB962C8B-B14F-4D97-AF65-F5344CB8AC3E}">
        <p14:creationId xmlns:p14="http://schemas.microsoft.com/office/powerpoint/2010/main" val="10001925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Types of Database Model</a:t>
            </a:r>
            <a:endParaRPr lang="en-US" b="1" dirty="0"/>
          </a:p>
        </p:txBody>
      </p:sp>
      <p:sp>
        <p:nvSpPr>
          <p:cNvPr id="3" name="Content Placeholder 2"/>
          <p:cNvSpPr>
            <a:spLocks noGrp="1"/>
          </p:cNvSpPr>
          <p:nvPr>
            <p:ph idx="1"/>
          </p:nvPr>
        </p:nvSpPr>
        <p:spPr/>
        <p:txBody>
          <a:bodyPr>
            <a:normAutofit/>
          </a:bodyPr>
          <a:lstStyle/>
          <a:p>
            <a:r>
              <a:rPr lang="en-US" sz="3200" dirty="0" smtClean="0"/>
              <a:t>Hierarchical Model </a:t>
            </a:r>
          </a:p>
          <a:p>
            <a:r>
              <a:rPr lang="en-US" sz="3200" dirty="0" smtClean="0"/>
              <a:t>Network Model</a:t>
            </a:r>
          </a:p>
          <a:p>
            <a:r>
              <a:rPr lang="en-US" sz="3200" dirty="0" smtClean="0"/>
              <a:t>Entity Relationship Model </a:t>
            </a:r>
          </a:p>
          <a:p>
            <a:r>
              <a:rPr lang="en-US" sz="3200" dirty="0" smtClean="0"/>
              <a:t>Relation Model </a:t>
            </a:r>
            <a:endParaRPr lang="en-US" sz="3200" dirty="0"/>
          </a:p>
        </p:txBody>
      </p:sp>
    </p:spTree>
    <p:extLst>
      <p:ext uri="{BB962C8B-B14F-4D97-AF65-F5344CB8AC3E}">
        <p14:creationId xmlns:p14="http://schemas.microsoft.com/office/powerpoint/2010/main" val="9420766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Hierarchical and Network Model</a:t>
            </a:r>
            <a:endParaRPr lang="en-US" b="1" dirty="0"/>
          </a:p>
        </p:txBody>
      </p:sp>
      <p:sp>
        <p:nvSpPr>
          <p:cNvPr id="3" name="Content Placeholder 2"/>
          <p:cNvSpPr>
            <a:spLocks noGrp="1"/>
          </p:cNvSpPr>
          <p:nvPr>
            <p:ph idx="1"/>
          </p:nvPr>
        </p:nvSpPr>
        <p:spPr/>
        <p:txBody>
          <a:bodyPr>
            <a:normAutofit/>
          </a:bodyPr>
          <a:lstStyle/>
          <a:p>
            <a:r>
              <a:rPr lang="en-US" sz="2800" b="1" dirty="0" smtClean="0"/>
              <a:t>Hierarchical Model:</a:t>
            </a:r>
          </a:p>
          <a:p>
            <a:r>
              <a:rPr lang="en-US" sz="2800" dirty="0" smtClean="0"/>
              <a:t>This database model organizes data into tree-like structure, with a single root, to which all data is linked </a:t>
            </a:r>
          </a:p>
          <a:p>
            <a:r>
              <a:rPr lang="en-US" sz="2800" b="1" dirty="0" smtClean="0"/>
              <a:t>Network Model:</a:t>
            </a:r>
          </a:p>
          <a:p>
            <a:r>
              <a:rPr lang="en-US" sz="2800" dirty="0" smtClean="0"/>
              <a:t>It is the extension of the hierarchical model .</a:t>
            </a:r>
            <a:endParaRPr lang="en-US" sz="2800" dirty="0"/>
          </a:p>
        </p:txBody>
      </p:sp>
    </p:spTree>
    <p:extLst>
      <p:ext uri="{BB962C8B-B14F-4D97-AF65-F5344CB8AC3E}">
        <p14:creationId xmlns:p14="http://schemas.microsoft.com/office/powerpoint/2010/main" val="28177823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Entity-relationship and Relational Model</a:t>
            </a:r>
            <a:endParaRPr lang="en-US" b="1" dirty="0"/>
          </a:p>
        </p:txBody>
      </p:sp>
      <p:sp>
        <p:nvSpPr>
          <p:cNvPr id="3" name="Content Placeholder 2"/>
          <p:cNvSpPr>
            <a:spLocks noGrp="1"/>
          </p:cNvSpPr>
          <p:nvPr>
            <p:ph idx="1"/>
          </p:nvPr>
        </p:nvSpPr>
        <p:spPr/>
        <p:txBody>
          <a:bodyPr>
            <a:normAutofit lnSpcReduction="10000"/>
          </a:bodyPr>
          <a:lstStyle/>
          <a:p>
            <a:r>
              <a:rPr lang="en-US" sz="2800" b="1" dirty="0" smtClean="0"/>
              <a:t>Entity-relationship model:</a:t>
            </a:r>
          </a:p>
          <a:p>
            <a:r>
              <a:rPr lang="en-US" sz="2800" dirty="0" smtClean="0"/>
              <a:t>In this database model, relationship are created by dividing object of interest into entity and its characteristics into attributes </a:t>
            </a:r>
          </a:p>
          <a:p>
            <a:r>
              <a:rPr lang="en-US" sz="2800" b="1" dirty="0" smtClean="0"/>
              <a:t>Relational Model:</a:t>
            </a:r>
          </a:p>
          <a:p>
            <a:r>
              <a:rPr lang="en-US" sz="2800" dirty="0" smtClean="0"/>
              <a:t>In this model, data is organized in two dimensional table and relationships is maintained by storing a common field.</a:t>
            </a:r>
            <a:endParaRPr lang="en-US" sz="2800" dirty="0"/>
          </a:p>
        </p:txBody>
      </p:sp>
    </p:spTree>
    <p:extLst>
      <p:ext uri="{BB962C8B-B14F-4D97-AF65-F5344CB8AC3E}">
        <p14:creationId xmlns:p14="http://schemas.microsoft.com/office/powerpoint/2010/main" val="23707749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Entity Relationship Diagram </a:t>
            </a:r>
            <a:endParaRPr lang="en-US" b="1" dirty="0"/>
          </a:p>
        </p:txBody>
      </p:sp>
      <p:sp>
        <p:nvSpPr>
          <p:cNvPr id="3" name="Content Placeholder 2"/>
          <p:cNvSpPr>
            <a:spLocks noGrp="1"/>
          </p:cNvSpPr>
          <p:nvPr>
            <p:ph idx="1"/>
          </p:nvPr>
        </p:nvSpPr>
        <p:spPr/>
        <p:txBody>
          <a:bodyPr>
            <a:normAutofit/>
          </a:bodyPr>
          <a:lstStyle/>
          <a:p>
            <a:r>
              <a:rPr lang="en-US" sz="3200" dirty="0" smtClean="0"/>
              <a:t>The E-R diagram has three main components;</a:t>
            </a:r>
          </a:p>
          <a:p>
            <a:r>
              <a:rPr lang="en-US" sz="3200" dirty="0" smtClean="0"/>
              <a:t>Entity </a:t>
            </a:r>
          </a:p>
          <a:p>
            <a:r>
              <a:rPr lang="en-US" sz="3200" dirty="0" smtClean="0"/>
              <a:t>Attribute </a:t>
            </a:r>
          </a:p>
          <a:p>
            <a:r>
              <a:rPr lang="en-US" sz="3200" dirty="0" smtClean="0"/>
              <a:t>Relationship</a:t>
            </a:r>
            <a:endParaRPr lang="en-US" sz="3200" dirty="0"/>
          </a:p>
        </p:txBody>
      </p:sp>
    </p:spTree>
    <p:extLst>
      <p:ext uri="{BB962C8B-B14F-4D97-AF65-F5344CB8AC3E}">
        <p14:creationId xmlns:p14="http://schemas.microsoft.com/office/powerpoint/2010/main" val="18939643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Entity </a:t>
            </a:r>
            <a:endParaRPr lang="en-US" b="1" dirty="0"/>
          </a:p>
        </p:txBody>
      </p:sp>
      <p:sp>
        <p:nvSpPr>
          <p:cNvPr id="3" name="Content Placeholder 2"/>
          <p:cNvSpPr>
            <a:spLocks noGrp="1"/>
          </p:cNvSpPr>
          <p:nvPr>
            <p:ph idx="1"/>
          </p:nvPr>
        </p:nvSpPr>
        <p:spPr/>
        <p:txBody>
          <a:bodyPr>
            <a:normAutofit/>
          </a:bodyPr>
          <a:lstStyle/>
          <a:p>
            <a:r>
              <a:rPr lang="en-US" sz="2800" dirty="0" smtClean="0"/>
              <a:t>An entity can be a real-world object either animate or inanimate, that can be easily identifiable. For example, in a school database, students, teachers, classes, and course offered can be considered as entities. All these entities have some attribute or properties that give them their identity.</a:t>
            </a:r>
            <a:endParaRPr lang="en-US" sz="2800" dirty="0"/>
          </a:p>
        </p:txBody>
      </p:sp>
    </p:spTree>
    <p:extLst>
      <p:ext uri="{BB962C8B-B14F-4D97-AF65-F5344CB8AC3E}">
        <p14:creationId xmlns:p14="http://schemas.microsoft.com/office/powerpoint/2010/main" val="28538707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Types of Entities </a:t>
            </a:r>
            <a:endParaRPr lang="en-US" b="1" dirty="0"/>
          </a:p>
        </p:txBody>
      </p:sp>
      <p:sp>
        <p:nvSpPr>
          <p:cNvPr id="3" name="Content Placeholder 2"/>
          <p:cNvSpPr>
            <a:spLocks noGrp="1"/>
          </p:cNvSpPr>
          <p:nvPr>
            <p:ph idx="1"/>
          </p:nvPr>
        </p:nvSpPr>
        <p:spPr/>
        <p:txBody>
          <a:bodyPr>
            <a:normAutofit/>
          </a:bodyPr>
          <a:lstStyle/>
          <a:p>
            <a:r>
              <a:rPr lang="en-US" sz="2800" dirty="0" smtClean="0"/>
              <a:t>Strong entity </a:t>
            </a:r>
          </a:p>
          <a:p>
            <a:r>
              <a:rPr lang="en-US" sz="2800" dirty="0" smtClean="0"/>
              <a:t>Weak entity </a:t>
            </a:r>
          </a:p>
          <a:p>
            <a:r>
              <a:rPr lang="en-US" sz="2800" dirty="0" smtClean="0"/>
              <a:t>Recursive entity </a:t>
            </a:r>
          </a:p>
          <a:p>
            <a:r>
              <a:rPr lang="en-US" sz="2800" dirty="0" smtClean="0"/>
              <a:t>Composite entity </a:t>
            </a:r>
          </a:p>
          <a:p>
            <a:r>
              <a:rPr lang="en-US" sz="2800" dirty="0" smtClean="0"/>
              <a:t>Subtype/</a:t>
            </a:r>
            <a:r>
              <a:rPr lang="en-US" sz="2800" dirty="0" err="1" smtClean="0"/>
              <a:t>Supertype</a:t>
            </a:r>
            <a:r>
              <a:rPr lang="en-US" sz="2800" dirty="0" smtClean="0"/>
              <a:t> entity </a:t>
            </a:r>
            <a:endParaRPr lang="en-US" sz="2800" dirty="0"/>
          </a:p>
        </p:txBody>
      </p:sp>
    </p:spTree>
    <p:extLst>
      <p:ext uri="{BB962C8B-B14F-4D97-AF65-F5344CB8AC3E}">
        <p14:creationId xmlns:p14="http://schemas.microsoft.com/office/powerpoint/2010/main" val="8587015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52698"/>
            <a:ext cx="8596668" cy="1149532"/>
          </a:xfrm>
        </p:spPr>
        <p:txBody>
          <a:bodyPr/>
          <a:lstStyle/>
          <a:p>
            <a:pPr algn="ctr"/>
            <a:r>
              <a:rPr lang="en-US" b="1" dirty="0" smtClean="0"/>
              <a:t>Strong Entity</a:t>
            </a:r>
            <a:endParaRPr lang="en-US" b="1" dirty="0"/>
          </a:p>
        </p:txBody>
      </p:sp>
      <p:sp>
        <p:nvSpPr>
          <p:cNvPr id="3" name="Content Placeholder 2"/>
          <p:cNvSpPr>
            <a:spLocks noGrp="1"/>
          </p:cNvSpPr>
          <p:nvPr>
            <p:ph idx="1"/>
          </p:nvPr>
        </p:nvSpPr>
        <p:spPr>
          <a:xfrm>
            <a:off x="677334" y="1502230"/>
            <a:ext cx="8596668" cy="4539133"/>
          </a:xfrm>
        </p:spPr>
        <p:txBody>
          <a:bodyPr>
            <a:noAutofit/>
          </a:bodyPr>
          <a:lstStyle/>
          <a:p>
            <a:r>
              <a:rPr lang="en-US" sz="2800" dirty="0" smtClean="0"/>
              <a:t>Strong entity is not dependent of any other entity in schema. Strong entity always has primary key. In other words, it has an attribute that can uniquely identify it.</a:t>
            </a:r>
          </a:p>
          <a:p>
            <a:r>
              <a:rPr lang="en-US" sz="2800" dirty="0" smtClean="0"/>
              <a:t>Strong entity is represented by single rectangle.</a:t>
            </a:r>
          </a:p>
          <a:p>
            <a:r>
              <a:rPr lang="en-US" sz="2800" dirty="0" smtClean="0"/>
              <a:t>Two strong entity’s relationship is represented by single diamond.</a:t>
            </a:r>
          </a:p>
          <a:p>
            <a:r>
              <a:rPr lang="en-US" sz="2800" dirty="0" smtClean="0"/>
              <a:t>Various strong entities together makes the strong entity set.</a:t>
            </a:r>
            <a:endParaRPr lang="en-US" sz="2800" dirty="0"/>
          </a:p>
        </p:txBody>
      </p:sp>
    </p:spTree>
    <p:extLst>
      <p:ext uri="{BB962C8B-B14F-4D97-AF65-F5344CB8AC3E}">
        <p14:creationId xmlns:p14="http://schemas.microsoft.com/office/powerpoint/2010/main" val="22089183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Weak Entity </a:t>
            </a:r>
            <a:endParaRPr lang="en-US" b="1" dirty="0"/>
          </a:p>
        </p:txBody>
      </p:sp>
      <p:sp>
        <p:nvSpPr>
          <p:cNvPr id="3" name="Content Placeholder 2"/>
          <p:cNvSpPr>
            <a:spLocks noGrp="1"/>
          </p:cNvSpPr>
          <p:nvPr>
            <p:ph idx="1"/>
          </p:nvPr>
        </p:nvSpPr>
        <p:spPr/>
        <p:txBody>
          <a:bodyPr>
            <a:normAutofit/>
          </a:bodyPr>
          <a:lstStyle/>
          <a:p>
            <a:r>
              <a:rPr lang="en-US" sz="2800" dirty="0" smtClean="0"/>
              <a:t>Weak entity depend on strong entity to ensure the existence of the weak entity.</a:t>
            </a:r>
          </a:p>
          <a:p>
            <a:r>
              <a:rPr lang="en-US" sz="2800" dirty="0" smtClean="0"/>
              <a:t>Unlike strong entity, weak entity does not have any primary key. It has partial discriminator key.</a:t>
            </a:r>
          </a:p>
          <a:p>
            <a:r>
              <a:rPr lang="en-US" sz="2800" dirty="0" smtClean="0"/>
              <a:t>Weak entity is represented by double rectangle.</a:t>
            </a:r>
          </a:p>
          <a:p>
            <a:r>
              <a:rPr lang="en-US" sz="2800" dirty="0" smtClean="0"/>
              <a:t>The relation between one strong and one weak entity is represented by double diamond .</a:t>
            </a:r>
            <a:endParaRPr lang="en-US" sz="2800" dirty="0"/>
          </a:p>
        </p:txBody>
      </p:sp>
    </p:spTree>
    <p:extLst>
      <p:ext uri="{BB962C8B-B14F-4D97-AF65-F5344CB8AC3E}">
        <p14:creationId xmlns:p14="http://schemas.microsoft.com/office/powerpoint/2010/main" val="1178272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Recursive Entity</a:t>
            </a:r>
            <a:endParaRPr lang="en-US" b="1" dirty="0"/>
          </a:p>
        </p:txBody>
      </p:sp>
      <p:sp>
        <p:nvSpPr>
          <p:cNvPr id="3" name="Content Placeholder 2"/>
          <p:cNvSpPr>
            <a:spLocks noGrp="1"/>
          </p:cNvSpPr>
          <p:nvPr>
            <p:ph idx="1"/>
          </p:nvPr>
        </p:nvSpPr>
        <p:spPr/>
        <p:txBody>
          <a:bodyPr>
            <a:normAutofit/>
          </a:bodyPr>
          <a:lstStyle/>
          <a:p>
            <a:r>
              <a:rPr lang="en-US" sz="2800" dirty="0" smtClean="0"/>
              <a:t>A relationship between two entities of similar entity type is called a recursive relationship. Here the same entity type participates more than once in a relationship type with a different role for each instance.</a:t>
            </a:r>
          </a:p>
          <a:p>
            <a:r>
              <a:rPr lang="en-US" sz="2800" dirty="0" smtClean="0"/>
              <a:t>In other words, a relationship has always been between occurrences in two different entities.</a:t>
            </a:r>
            <a:endParaRPr lang="en-US" sz="2800" dirty="0"/>
          </a:p>
        </p:txBody>
      </p:sp>
    </p:spTree>
    <p:extLst>
      <p:ext uri="{BB962C8B-B14F-4D97-AF65-F5344CB8AC3E}">
        <p14:creationId xmlns:p14="http://schemas.microsoft.com/office/powerpoint/2010/main" val="382787001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Composite Entity</a:t>
            </a:r>
            <a:endParaRPr lang="en-US" b="1" dirty="0"/>
          </a:p>
        </p:txBody>
      </p:sp>
      <p:sp>
        <p:nvSpPr>
          <p:cNvPr id="3" name="Content Placeholder 2"/>
          <p:cNvSpPr>
            <a:spLocks noGrp="1"/>
          </p:cNvSpPr>
          <p:nvPr>
            <p:ph idx="1"/>
          </p:nvPr>
        </p:nvSpPr>
        <p:spPr/>
        <p:txBody>
          <a:bodyPr>
            <a:normAutofit/>
          </a:bodyPr>
          <a:lstStyle/>
          <a:p>
            <a:r>
              <a:rPr lang="en-US" sz="2800" dirty="0" smtClean="0"/>
              <a:t>A composite entity is also known as a “</a:t>
            </a:r>
            <a:r>
              <a:rPr lang="en-US" sz="2800" b="1" dirty="0" smtClean="0"/>
              <a:t>bridge” </a:t>
            </a:r>
            <a:r>
              <a:rPr lang="en-US" sz="2800" dirty="0" smtClean="0"/>
              <a:t>entity. This entity lies between the two entities that are of interest and this composite entity shares the primary keys from both the connecting tables.</a:t>
            </a:r>
          </a:p>
          <a:p>
            <a:r>
              <a:rPr lang="en-US" sz="2800" dirty="0" smtClean="0"/>
              <a:t>This composite entity is also known as a </a:t>
            </a:r>
            <a:r>
              <a:rPr lang="en-US" sz="2800" b="1" dirty="0" smtClean="0"/>
              <a:t>“gerund” </a:t>
            </a:r>
            <a:r>
              <a:rPr lang="en-US" sz="2800" dirty="0" smtClean="0"/>
              <a:t>because it has the characteristics of an entity and a relationship.</a:t>
            </a:r>
            <a:endParaRPr lang="en-US" sz="2800" dirty="0"/>
          </a:p>
        </p:txBody>
      </p:sp>
    </p:spTree>
    <p:extLst>
      <p:ext uri="{BB962C8B-B14F-4D97-AF65-F5344CB8AC3E}">
        <p14:creationId xmlns:p14="http://schemas.microsoft.com/office/powerpoint/2010/main" val="1783560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Subtype/ Supertype Entity</a:t>
            </a:r>
            <a:endParaRPr lang="en-US" b="1" dirty="0"/>
          </a:p>
        </p:txBody>
      </p:sp>
      <p:sp>
        <p:nvSpPr>
          <p:cNvPr id="3" name="Content Placeholder 2"/>
          <p:cNvSpPr>
            <a:spLocks noGrp="1"/>
          </p:cNvSpPr>
          <p:nvPr>
            <p:ph idx="1"/>
          </p:nvPr>
        </p:nvSpPr>
        <p:spPr/>
        <p:txBody>
          <a:bodyPr>
            <a:normAutofit/>
          </a:bodyPr>
          <a:lstStyle/>
          <a:p>
            <a:r>
              <a:rPr lang="en-US" sz="2800" dirty="0" smtClean="0"/>
              <a:t>The Supertype (parent) entity is the top most entity that shares the information down to the subtypes (children). The subtypes inherit all the information from the Supertype entity.</a:t>
            </a:r>
          </a:p>
          <a:p>
            <a:r>
              <a:rPr lang="en-US" sz="2800" dirty="0" smtClean="0"/>
              <a:t>When moving down the hierarchical Supertype to the subtype, that is known as </a:t>
            </a:r>
            <a:r>
              <a:rPr lang="en-US" sz="2800" b="1" dirty="0" smtClean="0"/>
              <a:t>specialization.</a:t>
            </a:r>
          </a:p>
          <a:p>
            <a:r>
              <a:rPr lang="en-US" sz="2800" dirty="0" smtClean="0"/>
              <a:t>When moving from the subtype to the Supertype, that is known as </a:t>
            </a:r>
            <a:r>
              <a:rPr lang="en-US" sz="2800" b="1" dirty="0" smtClean="0"/>
              <a:t>generalization.</a:t>
            </a:r>
            <a:endParaRPr lang="en-US" sz="2800" dirty="0"/>
          </a:p>
        </p:txBody>
      </p:sp>
    </p:spTree>
    <p:extLst>
      <p:ext uri="{BB962C8B-B14F-4D97-AF65-F5344CB8AC3E}">
        <p14:creationId xmlns:p14="http://schemas.microsoft.com/office/powerpoint/2010/main" val="279956791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ATTRIBUTES</a:t>
            </a:r>
            <a:endParaRPr lang="en-US" b="1" dirty="0"/>
          </a:p>
        </p:txBody>
      </p:sp>
      <p:sp>
        <p:nvSpPr>
          <p:cNvPr id="3" name="Content Placeholder 2"/>
          <p:cNvSpPr>
            <a:spLocks noGrp="1"/>
          </p:cNvSpPr>
          <p:nvPr>
            <p:ph idx="1"/>
          </p:nvPr>
        </p:nvSpPr>
        <p:spPr/>
        <p:txBody>
          <a:bodyPr>
            <a:normAutofit/>
          </a:bodyPr>
          <a:lstStyle/>
          <a:p>
            <a:r>
              <a:rPr lang="en-US" sz="3200" dirty="0" smtClean="0"/>
              <a:t>Attributes are the properties used to describe an entity. For example, a STUDENT entity may have a NAME, Index number, Level, Course, etc. where STUDENT is the entity and name, Index number, level and course are the attributes.</a:t>
            </a:r>
            <a:endParaRPr lang="en-US" sz="3200" dirty="0"/>
          </a:p>
        </p:txBody>
      </p:sp>
    </p:spTree>
    <p:extLst>
      <p:ext uri="{BB962C8B-B14F-4D97-AF65-F5344CB8AC3E}">
        <p14:creationId xmlns:p14="http://schemas.microsoft.com/office/powerpoint/2010/main" val="10503485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Types of Attributes</a:t>
            </a:r>
            <a:endParaRPr lang="en-US" b="1" dirty="0"/>
          </a:p>
        </p:txBody>
      </p:sp>
      <p:sp>
        <p:nvSpPr>
          <p:cNvPr id="3" name="Content Placeholder 2"/>
          <p:cNvSpPr>
            <a:spLocks noGrp="1"/>
          </p:cNvSpPr>
          <p:nvPr>
            <p:ph idx="1"/>
          </p:nvPr>
        </p:nvSpPr>
        <p:spPr/>
        <p:txBody>
          <a:bodyPr>
            <a:normAutofit/>
          </a:bodyPr>
          <a:lstStyle/>
          <a:p>
            <a:r>
              <a:rPr lang="en-US" sz="2400" b="1" dirty="0" smtClean="0"/>
              <a:t>Simple Attribute:</a:t>
            </a:r>
          </a:p>
          <a:p>
            <a:r>
              <a:rPr lang="en-US" sz="2400" dirty="0" smtClean="0"/>
              <a:t>Simple attributes are atomic values, which cannot be divided further. For example, a student’s phone number is an atomic value of 10 digits.</a:t>
            </a:r>
          </a:p>
          <a:p>
            <a:r>
              <a:rPr lang="en-US" sz="2400" b="1" dirty="0" smtClean="0"/>
              <a:t>Composite Attributes: </a:t>
            </a:r>
          </a:p>
          <a:p>
            <a:r>
              <a:rPr lang="en-US" sz="2400" dirty="0" smtClean="0"/>
              <a:t>Composite attributes are made of more than one simple attributes. For example, a student’s complete name may have first_name and last_name.</a:t>
            </a:r>
            <a:endParaRPr lang="en-US" sz="2400" dirty="0"/>
          </a:p>
        </p:txBody>
      </p:sp>
    </p:spTree>
    <p:extLst>
      <p:ext uri="{BB962C8B-B14F-4D97-AF65-F5344CB8AC3E}">
        <p14:creationId xmlns:p14="http://schemas.microsoft.com/office/powerpoint/2010/main" val="2079652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18010"/>
            <a:ext cx="8596668" cy="692333"/>
          </a:xfrm>
        </p:spPr>
        <p:txBody>
          <a:bodyPr/>
          <a:lstStyle/>
          <a:p>
            <a:pPr algn="ctr"/>
            <a:r>
              <a:rPr lang="en-US" b="1" dirty="0" smtClean="0"/>
              <a:t>Cont.</a:t>
            </a:r>
            <a:endParaRPr lang="en-US" b="1" dirty="0"/>
          </a:p>
        </p:txBody>
      </p:sp>
      <p:sp>
        <p:nvSpPr>
          <p:cNvPr id="3" name="Content Placeholder 2"/>
          <p:cNvSpPr>
            <a:spLocks noGrp="1"/>
          </p:cNvSpPr>
          <p:nvPr>
            <p:ph idx="1"/>
          </p:nvPr>
        </p:nvSpPr>
        <p:spPr>
          <a:xfrm>
            <a:off x="677334" y="1319349"/>
            <a:ext cx="8596668" cy="4722014"/>
          </a:xfrm>
        </p:spPr>
        <p:txBody>
          <a:bodyPr>
            <a:normAutofit lnSpcReduction="10000"/>
          </a:bodyPr>
          <a:lstStyle/>
          <a:p>
            <a:r>
              <a:rPr lang="en-US" sz="2400" b="1" dirty="0" smtClean="0"/>
              <a:t>Derived attribute: </a:t>
            </a:r>
          </a:p>
          <a:p>
            <a:r>
              <a:rPr lang="en-US" sz="2400" dirty="0" smtClean="0"/>
              <a:t>Derived attribute are the attributes that do not exist in the physical database, but their values are derived from other attributes present in the database. For example, age can be derived from date_of_birth.</a:t>
            </a:r>
          </a:p>
          <a:p>
            <a:r>
              <a:rPr lang="en-US" sz="2400" b="1" dirty="0" smtClean="0"/>
              <a:t>Single-value attribute: </a:t>
            </a:r>
          </a:p>
          <a:p>
            <a:r>
              <a:rPr lang="en-US" sz="2400" dirty="0" smtClean="0"/>
              <a:t>Single-value attributes contain single value. For example: Social_Security_Number.</a:t>
            </a:r>
          </a:p>
          <a:p>
            <a:r>
              <a:rPr lang="en-US" sz="2400" b="1" dirty="0" smtClean="0"/>
              <a:t>Multi-value attribute:</a:t>
            </a:r>
          </a:p>
          <a:p>
            <a:r>
              <a:rPr lang="en-US" sz="2400" dirty="0" smtClean="0"/>
              <a:t>Mutli-vaue attributes may contain more than one values. For example, a person can have more than one phone number, email_addresses. </a:t>
            </a:r>
          </a:p>
          <a:p>
            <a:endParaRPr lang="en-US" sz="2400" dirty="0"/>
          </a:p>
        </p:txBody>
      </p:sp>
    </p:spTree>
    <p:extLst>
      <p:ext uri="{BB962C8B-B14F-4D97-AF65-F5344CB8AC3E}">
        <p14:creationId xmlns:p14="http://schemas.microsoft.com/office/powerpoint/2010/main" val="212858709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E-R Diagrams </a:t>
            </a:r>
            <a:endParaRPr lang="en-US" b="1" dirty="0"/>
          </a:p>
        </p:txBody>
      </p:sp>
      <p:sp>
        <p:nvSpPr>
          <p:cNvPr id="3" name="Content Placeholder 2"/>
          <p:cNvSpPr>
            <a:spLocks noGrp="1"/>
          </p:cNvSpPr>
          <p:nvPr>
            <p:ph idx="1"/>
          </p:nvPr>
        </p:nvSpPr>
        <p:spPr/>
        <p:txBody>
          <a:bodyPr>
            <a:normAutofit/>
          </a:bodyPr>
          <a:lstStyle/>
          <a:p>
            <a:r>
              <a:rPr lang="en-US" sz="2800" dirty="0" smtClean="0"/>
              <a:t>By defining the entities, their attributes and showing the relationships between them, an ER diagram illustrates the logical structure of databases. ER diagram are used to sketch out the design of a database.</a:t>
            </a:r>
            <a:endParaRPr lang="en-US" sz="2800" dirty="0"/>
          </a:p>
        </p:txBody>
      </p:sp>
    </p:spTree>
    <p:extLst>
      <p:ext uri="{BB962C8B-B14F-4D97-AF65-F5344CB8AC3E}">
        <p14:creationId xmlns:p14="http://schemas.microsoft.com/office/powerpoint/2010/main" val="4962221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Steps in creating ERD</a:t>
            </a:r>
            <a:endParaRPr lang="en-US" b="1" dirty="0"/>
          </a:p>
        </p:txBody>
      </p:sp>
      <p:sp>
        <p:nvSpPr>
          <p:cNvPr id="3" name="Content Placeholder 2"/>
          <p:cNvSpPr>
            <a:spLocks noGrp="1"/>
          </p:cNvSpPr>
          <p:nvPr>
            <p:ph idx="1"/>
          </p:nvPr>
        </p:nvSpPr>
        <p:spPr/>
        <p:txBody>
          <a:bodyPr>
            <a:normAutofit/>
          </a:bodyPr>
          <a:lstStyle/>
          <a:p>
            <a:r>
              <a:rPr lang="en-US" sz="2800" dirty="0" smtClean="0"/>
              <a:t>Entity Identification </a:t>
            </a:r>
          </a:p>
          <a:p>
            <a:r>
              <a:rPr lang="en-US" sz="2800" dirty="0" smtClean="0"/>
              <a:t>Relationship Identification </a:t>
            </a:r>
          </a:p>
          <a:p>
            <a:r>
              <a:rPr lang="en-US" sz="2800" dirty="0" smtClean="0"/>
              <a:t>Cardinality Identification </a:t>
            </a:r>
          </a:p>
          <a:p>
            <a:r>
              <a:rPr lang="en-US" sz="2800" dirty="0" smtClean="0"/>
              <a:t>Identify Attributes </a:t>
            </a:r>
          </a:p>
          <a:p>
            <a:r>
              <a:rPr lang="en-US" sz="2800" dirty="0" smtClean="0"/>
              <a:t>Create ERD</a:t>
            </a:r>
            <a:endParaRPr lang="en-US" sz="2800" dirty="0"/>
          </a:p>
        </p:txBody>
      </p:sp>
    </p:spTree>
    <p:extLst>
      <p:ext uri="{BB962C8B-B14F-4D97-AF65-F5344CB8AC3E}">
        <p14:creationId xmlns:p14="http://schemas.microsoft.com/office/powerpoint/2010/main" val="10526142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905691"/>
          </a:xfrm>
        </p:spPr>
        <p:txBody>
          <a:bodyPr>
            <a:normAutofit fontScale="90000"/>
          </a:bodyPr>
          <a:lstStyle/>
          <a:p>
            <a:pPr algn="ctr"/>
            <a:r>
              <a:rPr lang="en-US" b="1" dirty="0" smtClean="0"/>
              <a:t>Example</a:t>
            </a:r>
            <a:br>
              <a:rPr lang="en-US" b="1" dirty="0" smtClean="0"/>
            </a:br>
            <a:endParaRPr lang="en-US" b="1" dirty="0"/>
          </a:p>
        </p:txBody>
      </p:sp>
      <p:sp>
        <p:nvSpPr>
          <p:cNvPr id="3" name="Content Placeholder 2"/>
          <p:cNvSpPr>
            <a:spLocks noGrp="1"/>
          </p:cNvSpPr>
          <p:nvPr>
            <p:ph idx="1"/>
          </p:nvPr>
        </p:nvSpPr>
        <p:spPr>
          <a:xfrm>
            <a:off x="677334" y="1789611"/>
            <a:ext cx="8596668" cy="4251751"/>
          </a:xfrm>
        </p:spPr>
        <p:txBody>
          <a:bodyPr>
            <a:noAutofit/>
          </a:bodyPr>
          <a:lstStyle/>
          <a:p>
            <a:r>
              <a:rPr lang="en-US" sz="2400" dirty="0" smtClean="0"/>
              <a:t>In a university, a Student enrolls in Courses. A student is assigned an index number and institutional email address using his first and last names. A student must assigned to at least one or more Courses and a course is identified by its title, credit and code including the level in which it is taught. Each course is taught by a single lecturer. A lecturer is given an ID, an email address which is generated using his first and last names. To maintain instruction quality, a lecturer can deliver only one course.</a:t>
            </a:r>
            <a:endParaRPr lang="en-US" sz="2400" dirty="0"/>
          </a:p>
        </p:txBody>
      </p:sp>
    </p:spTree>
    <p:extLst>
      <p:ext uri="{BB962C8B-B14F-4D97-AF65-F5344CB8AC3E}">
        <p14:creationId xmlns:p14="http://schemas.microsoft.com/office/powerpoint/2010/main" val="118180277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1440"/>
            <a:ext cx="8596668" cy="653143"/>
          </a:xfrm>
        </p:spPr>
        <p:txBody>
          <a:bodyPr/>
          <a:lstStyle/>
          <a:p>
            <a:endParaRPr lang="en-US" dirty="0"/>
          </a:p>
        </p:txBody>
      </p:sp>
      <p:sp>
        <p:nvSpPr>
          <p:cNvPr id="3" name="Content Placeholder 2"/>
          <p:cNvSpPr>
            <a:spLocks noGrp="1"/>
          </p:cNvSpPr>
          <p:nvPr>
            <p:ph idx="1"/>
          </p:nvPr>
        </p:nvSpPr>
        <p:spPr>
          <a:xfrm>
            <a:off x="677334" y="1162595"/>
            <a:ext cx="8596668" cy="4878768"/>
          </a:xfrm>
        </p:spPr>
        <p:txBody>
          <a:bodyPr/>
          <a:lstStyle/>
          <a:p>
            <a:endParaRPr lang="en-US" dirty="0"/>
          </a:p>
        </p:txBody>
      </p:sp>
      <p:sp>
        <p:nvSpPr>
          <p:cNvPr id="6" name="Rectangle 5"/>
          <p:cNvSpPr/>
          <p:nvPr/>
        </p:nvSpPr>
        <p:spPr>
          <a:xfrm>
            <a:off x="1776548" y="2495005"/>
            <a:ext cx="1149531" cy="4049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Student</a:t>
            </a:r>
            <a:endParaRPr lang="en-US" dirty="0">
              <a:ln w="0"/>
              <a:solidFill>
                <a:schemeClr val="tx1"/>
              </a:solidFill>
              <a:effectLst>
                <a:outerShdw blurRad="38100" dist="19050" dir="2700000" algn="tl" rotWithShape="0">
                  <a:schemeClr val="dk1">
                    <a:alpha val="40000"/>
                  </a:schemeClr>
                </a:outerShdw>
              </a:effectLst>
            </a:endParaRPr>
          </a:p>
        </p:txBody>
      </p:sp>
      <p:sp>
        <p:nvSpPr>
          <p:cNvPr id="8" name="Rectangle 7"/>
          <p:cNvSpPr/>
          <p:nvPr/>
        </p:nvSpPr>
        <p:spPr>
          <a:xfrm>
            <a:off x="4123629" y="3762103"/>
            <a:ext cx="1436914" cy="3657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ln w="0"/>
                <a:solidFill>
                  <a:schemeClr val="tx1"/>
                </a:solidFill>
                <a:effectLst>
                  <a:outerShdw blurRad="38100" dist="19050" dir="2700000" algn="tl" rotWithShape="0">
                    <a:schemeClr val="dk1">
                      <a:alpha val="40000"/>
                    </a:schemeClr>
                  </a:outerShdw>
                </a:effectLst>
              </a:rPr>
              <a:t>Lecturer</a:t>
            </a:r>
            <a:endParaRPr lang="en-US" dirty="0">
              <a:ln w="0"/>
              <a:solidFill>
                <a:schemeClr val="tx1"/>
              </a:solidFill>
              <a:effectLst>
                <a:outerShdw blurRad="38100" dist="19050" dir="2700000" algn="tl" rotWithShape="0">
                  <a:schemeClr val="dk1">
                    <a:alpha val="40000"/>
                  </a:schemeClr>
                </a:outerShdw>
              </a:effectLst>
            </a:endParaRPr>
          </a:p>
        </p:txBody>
      </p:sp>
      <p:sp>
        <p:nvSpPr>
          <p:cNvPr id="9" name="Rectangle 8"/>
          <p:cNvSpPr/>
          <p:nvPr/>
        </p:nvSpPr>
        <p:spPr>
          <a:xfrm>
            <a:off x="6570618" y="2442753"/>
            <a:ext cx="1071154" cy="40494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smtClean="0"/>
              <a:t>Course</a:t>
            </a:r>
            <a:endParaRPr lang="en-US" b="1" dirty="0"/>
          </a:p>
        </p:txBody>
      </p:sp>
      <p:cxnSp>
        <p:nvCxnSpPr>
          <p:cNvPr id="11" name="Straight Connector 10"/>
          <p:cNvCxnSpPr/>
          <p:nvPr/>
        </p:nvCxnSpPr>
        <p:spPr>
          <a:xfrm>
            <a:off x="2821577" y="2899953"/>
            <a:ext cx="1302052" cy="869499"/>
          </a:xfrm>
          <a:prstGeom prst="line">
            <a:avLst/>
          </a:prstGeom>
        </p:spPr>
        <p:style>
          <a:lnRef idx="1">
            <a:schemeClr val="dk1"/>
          </a:lnRef>
          <a:fillRef idx="0">
            <a:schemeClr val="dk1"/>
          </a:fillRef>
          <a:effectRef idx="0">
            <a:schemeClr val="dk1"/>
          </a:effectRef>
          <a:fontRef idx="minor">
            <a:schemeClr val="tx1"/>
          </a:fontRef>
        </p:style>
      </p:cxnSp>
      <p:sp>
        <p:nvSpPr>
          <p:cNvPr id="14" name="Diamond 13"/>
          <p:cNvSpPr/>
          <p:nvPr/>
        </p:nvSpPr>
        <p:spPr>
          <a:xfrm>
            <a:off x="6439988" y="3830578"/>
            <a:ext cx="1998617" cy="1133306"/>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Teaches</a:t>
            </a:r>
            <a:endParaRPr lang="en-US" dirty="0"/>
          </a:p>
        </p:txBody>
      </p:sp>
      <p:sp>
        <p:nvSpPr>
          <p:cNvPr id="15" name="Diamond 14"/>
          <p:cNvSpPr/>
          <p:nvPr/>
        </p:nvSpPr>
        <p:spPr>
          <a:xfrm>
            <a:off x="3971108" y="1606731"/>
            <a:ext cx="1672045" cy="849086"/>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Assign</a:t>
            </a:r>
            <a:endParaRPr lang="en-US" dirty="0"/>
          </a:p>
        </p:txBody>
      </p:sp>
      <p:sp>
        <p:nvSpPr>
          <p:cNvPr id="16" name="Oval 15"/>
          <p:cNvSpPr/>
          <p:nvPr/>
        </p:nvSpPr>
        <p:spPr>
          <a:xfrm>
            <a:off x="3016553" y="4611189"/>
            <a:ext cx="1084217" cy="4702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Email</a:t>
            </a:r>
            <a:endParaRPr lang="en-US" dirty="0"/>
          </a:p>
        </p:txBody>
      </p:sp>
      <p:sp>
        <p:nvSpPr>
          <p:cNvPr id="17" name="Oval 16"/>
          <p:cNvSpPr/>
          <p:nvPr/>
        </p:nvSpPr>
        <p:spPr>
          <a:xfrm>
            <a:off x="5341742" y="4611188"/>
            <a:ext cx="796834" cy="47026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ID</a:t>
            </a:r>
            <a:endParaRPr lang="en-US" dirty="0"/>
          </a:p>
        </p:txBody>
      </p:sp>
      <p:sp>
        <p:nvSpPr>
          <p:cNvPr id="18" name="Oval 17"/>
          <p:cNvSpPr/>
          <p:nvPr/>
        </p:nvSpPr>
        <p:spPr>
          <a:xfrm>
            <a:off x="1926772" y="5184320"/>
            <a:ext cx="1371598" cy="48332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Fname</a:t>
            </a:r>
            <a:endParaRPr lang="en-US" dirty="0"/>
          </a:p>
        </p:txBody>
      </p:sp>
      <p:sp>
        <p:nvSpPr>
          <p:cNvPr id="19" name="Oval 18"/>
          <p:cNvSpPr/>
          <p:nvPr/>
        </p:nvSpPr>
        <p:spPr>
          <a:xfrm>
            <a:off x="4201522" y="5143499"/>
            <a:ext cx="1273750" cy="56497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Lname</a:t>
            </a:r>
            <a:endParaRPr lang="en-US" dirty="0"/>
          </a:p>
        </p:txBody>
      </p:sp>
      <p:sp>
        <p:nvSpPr>
          <p:cNvPr id="20" name="Oval 19"/>
          <p:cNvSpPr/>
          <p:nvPr/>
        </p:nvSpPr>
        <p:spPr>
          <a:xfrm>
            <a:off x="5930537" y="1280160"/>
            <a:ext cx="1018903" cy="44413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Title</a:t>
            </a:r>
            <a:endParaRPr lang="en-US" dirty="0"/>
          </a:p>
        </p:txBody>
      </p:sp>
      <p:sp>
        <p:nvSpPr>
          <p:cNvPr id="21" name="Oval 20"/>
          <p:cNvSpPr/>
          <p:nvPr/>
        </p:nvSpPr>
        <p:spPr>
          <a:xfrm>
            <a:off x="7093132" y="1280160"/>
            <a:ext cx="1097280" cy="44413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Code</a:t>
            </a:r>
            <a:endParaRPr lang="en-US" dirty="0"/>
          </a:p>
        </p:txBody>
      </p:sp>
      <p:sp>
        <p:nvSpPr>
          <p:cNvPr id="22" name="Oval 21"/>
          <p:cNvSpPr/>
          <p:nvPr/>
        </p:nvSpPr>
        <p:spPr>
          <a:xfrm>
            <a:off x="8072846" y="1724298"/>
            <a:ext cx="1097280" cy="41801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Level</a:t>
            </a:r>
            <a:endParaRPr lang="en-US" dirty="0"/>
          </a:p>
        </p:txBody>
      </p:sp>
      <p:sp>
        <p:nvSpPr>
          <p:cNvPr id="23" name="Oval 22"/>
          <p:cNvSpPr/>
          <p:nvPr/>
        </p:nvSpPr>
        <p:spPr>
          <a:xfrm>
            <a:off x="7993842" y="2442753"/>
            <a:ext cx="1162595" cy="40494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Credit</a:t>
            </a:r>
            <a:endParaRPr lang="en-US" dirty="0"/>
          </a:p>
        </p:txBody>
      </p:sp>
      <p:sp>
        <p:nvSpPr>
          <p:cNvPr id="24" name="Oval 23"/>
          <p:cNvSpPr/>
          <p:nvPr/>
        </p:nvSpPr>
        <p:spPr>
          <a:xfrm>
            <a:off x="1384663" y="1606731"/>
            <a:ext cx="1227908" cy="42454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ID No.</a:t>
            </a:r>
            <a:endParaRPr lang="en-US" dirty="0"/>
          </a:p>
        </p:txBody>
      </p:sp>
      <p:sp>
        <p:nvSpPr>
          <p:cNvPr id="25" name="Oval 24"/>
          <p:cNvSpPr/>
          <p:nvPr/>
        </p:nvSpPr>
        <p:spPr>
          <a:xfrm>
            <a:off x="836023" y="3265714"/>
            <a:ext cx="1090749" cy="40494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Email</a:t>
            </a:r>
            <a:endParaRPr lang="en-US" dirty="0"/>
          </a:p>
        </p:txBody>
      </p:sp>
      <p:sp>
        <p:nvSpPr>
          <p:cNvPr id="26" name="Oval 25"/>
          <p:cNvSpPr/>
          <p:nvPr/>
        </p:nvSpPr>
        <p:spPr>
          <a:xfrm>
            <a:off x="836023" y="3984171"/>
            <a:ext cx="1227908" cy="50945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Fname</a:t>
            </a:r>
            <a:endParaRPr lang="en-US" dirty="0"/>
          </a:p>
        </p:txBody>
      </p:sp>
      <p:sp>
        <p:nvSpPr>
          <p:cNvPr id="27" name="Oval 26"/>
          <p:cNvSpPr/>
          <p:nvPr/>
        </p:nvSpPr>
        <p:spPr>
          <a:xfrm>
            <a:off x="2063931" y="3670663"/>
            <a:ext cx="1234439" cy="54864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smtClean="0"/>
              <a:t>Lname</a:t>
            </a:r>
            <a:endParaRPr lang="en-US" dirty="0"/>
          </a:p>
        </p:txBody>
      </p:sp>
      <p:cxnSp>
        <p:nvCxnSpPr>
          <p:cNvPr id="31" name="Straight Connector 30"/>
          <p:cNvCxnSpPr>
            <a:stCxn id="8" idx="3"/>
            <a:endCxn id="14" idx="1"/>
          </p:cNvCxnSpPr>
          <p:nvPr/>
        </p:nvCxnSpPr>
        <p:spPr>
          <a:xfrm>
            <a:off x="5560543" y="3944983"/>
            <a:ext cx="879445" cy="452248"/>
          </a:xfrm>
          <a:prstGeom prst="line">
            <a:avLst/>
          </a:prstGeom>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flipV="1">
            <a:off x="7439296" y="2847702"/>
            <a:ext cx="0" cy="982876"/>
          </a:xfrm>
          <a:prstGeom prst="line">
            <a:avLst/>
          </a:prstGeom>
        </p:spPr>
        <p:style>
          <a:lnRef idx="1">
            <a:schemeClr val="dk1"/>
          </a:lnRef>
          <a:fillRef idx="0">
            <a:schemeClr val="dk1"/>
          </a:fillRef>
          <a:effectRef idx="0">
            <a:schemeClr val="dk1"/>
          </a:effectRef>
          <a:fontRef idx="minor">
            <a:schemeClr val="tx1"/>
          </a:fontRef>
        </p:style>
      </p:cxnSp>
      <p:cxnSp>
        <p:nvCxnSpPr>
          <p:cNvPr id="36" name="Straight Connector 35"/>
          <p:cNvCxnSpPr/>
          <p:nvPr/>
        </p:nvCxnSpPr>
        <p:spPr>
          <a:xfrm>
            <a:off x="5120640" y="4127863"/>
            <a:ext cx="439903" cy="483325"/>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a:xfrm flipV="1">
            <a:off x="3762103" y="4127863"/>
            <a:ext cx="640080" cy="483325"/>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p:cNvCxnSpPr>
            <a:endCxn id="16" idx="3"/>
          </p:cNvCxnSpPr>
          <p:nvPr/>
        </p:nvCxnSpPr>
        <p:spPr>
          <a:xfrm flipV="1">
            <a:off x="2821577" y="5012584"/>
            <a:ext cx="353756" cy="171736"/>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p:cNvCxnSpPr>
            <a:endCxn id="19" idx="1"/>
          </p:cNvCxnSpPr>
          <p:nvPr/>
        </p:nvCxnSpPr>
        <p:spPr>
          <a:xfrm>
            <a:off x="4074598" y="4963884"/>
            <a:ext cx="313460" cy="262353"/>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p:cNvCxnSpPr>
            <a:stCxn id="25" idx="4"/>
          </p:cNvCxnSpPr>
          <p:nvPr/>
        </p:nvCxnSpPr>
        <p:spPr>
          <a:xfrm flipH="1">
            <a:off x="1227909" y="3670663"/>
            <a:ext cx="153489" cy="313508"/>
          </a:xfrm>
          <a:prstGeom prst="line">
            <a:avLst/>
          </a:prstGeom>
        </p:spPr>
        <p:style>
          <a:lnRef idx="1">
            <a:schemeClr val="dk1"/>
          </a:lnRef>
          <a:fillRef idx="0">
            <a:schemeClr val="dk1"/>
          </a:fillRef>
          <a:effectRef idx="0">
            <a:schemeClr val="dk1"/>
          </a:effectRef>
          <a:fontRef idx="minor">
            <a:schemeClr val="tx1"/>
          </a:fontRef>
        </p:style>
      </p:cxnSp>
      <p:cxnSp>
        <p:nvCxnSpPr>
          <p:cNvPr id="48" name="Straight Connector 47"/>
          <p:cNvCxnSpPr>
            <a:stCxn id="25" idx="5"/>
          </p:cNvCxnSpPr>
          <p:nvPr/>
        </p:nvCxnSpPr>
        <p:spPr>
          <a:xfrm>
            <a:off x="1767036" y="3611360"/>
            <a:ext cx="398617" cy="219218"/>
          </a:xfrm>
          <a:prstGeom prst="line">
            <a:avLst/>
          </a:prstGeom>
        </p:spPr>
        <p:style>
          <a:lnRef idx="1">
            <a:schemeClr val="dk1"/>
          </a:lnRef>
          <a:fillRef idx="0">
            <a:schemeClr val="dk1"/>
          </a:fillRef>
          <a:effectRef idx="0">
            <a:schemeClr val="dk1"/>
          </a:effectRef>
          <a:fontRef idx="minor">
            <a:schemeClr val="tx1"/>
          </a:fontRef>
        </p:style>
      </p:cxnSp>
      <p:cxnSp>
        <p:nvCxnSpPr>
          <p:cNvPr id="50" name="Straight Connector 49"/>
          <p:cNvCxnSpPr>
            <a:stCxn id="25" idx="0"/>
          </p:cNvCxnSpPr>
          <p:nvPr/>
        </p:nvCxnSpPr>
        <p:spPr>
          <a:xfrm flipV="1">
            <a:off x="1381398" y="2899953"/>
            <a:ext cx="617219" cy="365761"/>
          </a:xfrm>
          <a:prstGeom prst="line">
            <a:avLst/>
          </a:prstGeom>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a:off x="2165653" y="2031274"/>
            <a:ext cx="0" cy="463731"/>
          </a:xfrm>
          <a:prstGeom prst="line">
            <a:avLst/>
          </a:prstGeom>
        </p:spPr>
        <p:style>
          <a:lnRef idx="1">
            <a:schemeClr val="dk1"/>
          </a:lnRef>
          <a:fillRef idx="0">
            <a:schemeClr val="dk1"/>
          </a:fillRef>
          <a:effectRef idx="0">
            <a:schemeClr val="dk1"/>
          </a:effectRef>
          <a:fontRef idx="minor">
            <a:schemeClr val="tx1"/>
          </a:fontRef>
        </p:style>
      </p:cxnSp>
      <p:cxnSp>
        <p:nvCxnSpPr>
          <p:cNvPr id="54" name="Straight Connector 53"/>
          <p:cNvCxnSpPr>
            <a:stCxn id="6" idx="3"/>
          </p:cNvCxnSpPr>
          <p:nvPr/>
        </p:nvCxnSpPr>
        <p:spPr>
          <a:xfrm flipV="1">
            <a:off x="2926079" y="2263139"/>
            <a:ext cx="1461979" cy="434341"/>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Connector 55"/>
          <p:cNvCxnSpPr>
            <a:endCxn id="9" idx="1"/>
          </p:cNvCxnSpPr>
          <p:nvPr/>
        </p:nvCxnSpPr>
        <p:spPr>
          <a:xfrm>
            <a:off x="5375896" y="2142309"/>
            <a:ext cx="1194722" cy="502919"/>
          </a:xfrm>
          <a:prstGeom prst="line">
            <a:avLst/>
          </a:prstGeom>
        </p:spPr>
        <p:style>
          <a:lnRef idx="1">
            <a:schemeClr val="dk1"/>
          </a:lnRef>
          <a:fillRef idx="0">
            <a:schemeClr val="dk1"/>
          </a:fillRef>
          <a:effectRef idx="0">
            <a:schemeClr val="dk1"/>
          </a:effectRef>
          <a:fontRef idx="minor">
            <a:schemeClr val="tx1"/>
          </a:fontRef>
        </p:style>
      </p:cxnSp>
      <p:cxnSp>
        <p:nvCxnSpPr>
          <p:cNvPr id="58" name="Straight Connector 57"/>
          <p:cNvCxnSpPr/>
          <p:nvPr/>
        </p:nvCxnSpPr>
        <p:spPr>
          <a:xfrm flipH="1" flipV="1">
            <a:off x="6570618" y="1724297"/>
            <a:ext cx="378822" cy="718456"/>
          </a:xfrm>
          <a:prstGeom prst="line">
            <a:avLst/>
          </a:prstGeom>
        </p:spPr>
        <p:style>
          <a:lnRef idx="1">
            <a:schemeClr val="dk1"/>
          </a:lnRef>
          <a:fillRef idx="0">
            <a:schemeClr val="dk1"/>
          </a:fillRef>
          <a:effectRef idx="0">
            <a:schemeClr val="dk1"/>
          </a:effectRef>
          <a:fontRef idx="minor">
            <a:schemeClr val="tx1"/>
          </a:fontRef>
        </p:style>
      </p:cxnSp>
      <p:cxnSp>
        <p:nvCxnSpPr>
          <p:cNvPr id="60" name="Straight Connector 59"/>
          <p:cNvCxnSpPr>
            <a:endCxn id="21" idx="4"/>
          </p:cNvCxnSpPr>
          <p:nvPr/>
        </p:nvCxnSpPr>
        <p:spPr>
          <a:xfrm flipV="1">
            <a:off x="7236824" y="1724297"/>
            <a:ext cx="404948" cy="731520"/>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p:cNvCxnSpPr>
            <a:endCxn id="22" idx="3"/>
          </p:cNvCxnSpPr>
          <p:nvPr/>
        </p:nvCxnSpPr>
        <p:spPr>
          <a:xfrm flipV="1">
            <a:off x="7558456" y="2081093"/>
            <a:ext cx="675083" cy="361660"/>
          </a:xfrm>
          <a:prstGeom prst="line">
            <a:avLst/>
          </a:prstGeom>
        </p:spPr>
        <p:style>
          <a:lnRef idx="1">
            <a:schemeClr val="dk1"/>
          </a:lnRef>
          <a:fillRef idx="0">
            <a:schemeClr val="dk1"/>
          </a:fillRef>
          <a:effectRef idx="0">
            <a:schemeClr val="dk1"/>
          </a:effectRef>
          <a:fontRef idx="minor">
            <a:schemeClr val="tx1"/>
          </a:fontRef>
        </p:style>
      </p:cxnSp>
      <p:cxnSp>
        <p:nvCxnSpPr>
          <p:cNvPr id="64" name="Straight Connector 63"/>
          <p:cNvCxnSpPr>
            <a:stCxn id="9" idx="3"/>
            <a:endCxn id="23" idx="2"/>
          </p:cNvCxnSpPr>
          <p:nvPr/>
        </p:nvCxnSpPr>
        <p:spPr>
          <a:xfrm>
            <a:off x="7641772" y="2645228"/>
            <a:ext cx="35207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72098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Best Practices for Developing Effective ER Diagrams</a:t>
            </a:r>
            <a:endParaRPr lang="en-US" b="1" dirty="0"/>
          </a:p>
        </p:txBody>
      </p:sp>
      <p:sp>
        <p:nvSpPr>
          <p:cNvPr id="3" name="Content Placeholder 2"/>
          <p:cNvSpPr>
            <a:spLocks noGrp="1"/>
          </p:cNvSpPr>
          <p:nvPr>
            <p:ph idx="1"/>
          </p:nvPr>
        </p:nvSpPr>
        <p:spPr/>
        <p:txBody>
          <a:bodyPr>
            <a:normAutofit/>
          </a:bodyPr>
          <a:lstStyle/>
          <a:p>
            <a:r>
              <a:rPr lang="en-US" sz="2400" dirty="0" smtClean="0"/>
              <a:t>Eliminate any redundant entities or relationships</a:t>
            </a:r>
          </a:p>
          <a:p>
            <a:r>
              <a:rPr lang="en-US" sz="2400" dirty="0" smtClean="0"/>
              <a:t>You need to make sure that all your entities and relationships are properly labeled</a:t>
            </a:r>
          </a:p>
          <a:p>
            <a:r>
              <a:rPr lang="en-US" sz="2400" dirty="0" smtClean="0"/>
              <a:t>There may be various valid approaches to an ER diagram. You need to make sure that the ER diagram supports all the data you need to store</a:t>
            </a:r>
          </a:p>
          <a:p>
            <a:r>
              <a:rPr lang="en-US" sz="2400" dirty="0" smtClean="0"/>
              <a:t>You should assure that each entity and attribute only appears a single time in the ER diagram</a:t>
            </a:r>
            <a:endParaRPr lang="en-US" sz="2400" dirty="0"/>
          </a:p>
        </p:txBody>
      </p:sp>
    </p:spTree>
    <p:extLst>
      <p:ext uri="{BB962C8B-B14F-4D97-AF65-F5344CB8AC3E}">
        <p14:creationId xmlns:p14="http://schemas.microsoft.com/office/powerpoint/2010/main" val="409789841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Cont.</a:t>
            </a:r>
            <a:endParaRPr lang="en-US" b="1" dirty="0"/>
          </a:p>
        </p:txBody>
      </p:sp>
      <p:sp>
        <p:nvSpPr>
          <p:cNvPr id="3" name="Content Placeholder 2"/>
          <p:cNvSpPr>
            <a:spLocks noGrp="1"/>
          </p:cNvSpPr>
          <p:nvPr>
            <p:ph idx="1"/>
          </p:nvPr>
        </p:nvSpPr>
        <p:spPr/>
        <p:txBody>
          <a:bodyPr>
            <a:normAutofit/>
          </a:bodyPr>
          <a:lstStyle/>
          <a:p>
            <a:r>
              <a:rPr lang="en-US" sz="2400" dirty="0" smtClean="0"/>
              <a:t>Name every relationship, entity and attribute are represented on your diagram</a:t>
            </a:r>
          </a:p>
          <a:p>
            <a:r>
              <a:rPr lang="en-US" sz="2400" dirty="0" smtClean="0"/>
              <a:t>Never connect relationships to each other </a:t>
            </a:r>
          </a:p>
          <a:p>
            <a:r>
              <a:rPr lang="en-US" sz="2400" dirty="0" smtClean="0"/>
              <a:t>You should use colors to highlight important portions of the ER diagram</a:t>
            </a:r>
            <a:endParaRPr lang="en-US" sz="2400" dirty="0"/>
          </a:p>
        </p:txBody>
      </p:sp>
    </p:spTree>
    <p:extLst>
      <p:ext uri="{BB962C8B-B14F-4D97-AF65-F5344CB8AC3E}">
        <p14:creationId xmlns:p14="http://schemas.microsoft.com/office/powerpoint/2010/main" val="2355128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Composite Attribute</a:t>
            </a:r>
            <a:endParaRPr lang="en-US" b="1" dirty="0"/>
          </a:p>
        </p:txBody>
      </p:sp>
      <p:sp>
        <p:nvSpPr>
          <p:cNvPr id="3" name="Content Placeholder 2"/>
          <p:cNvSpPr>
            <a:spLocks noGrp="1"/>
          </p:cNvSpPr>
          <p:nvPr>
            <p:ph idx="1"/>
          </p:nvPr>
        </p:nvSpPr>
        <p:spPr/>
        <p:txBody>
          <a:bodyPr>
            <a:normAutofit/>
          </a:bodyPr>
          <a:lstStyle/>
          <a:p>
            <a:r>
              <a:rPr lang="en-US" sz="2800" dirty="0" smtClean="0"/>
              <a:t>When a regular entity type has a composite attributes, only the simple component attributes of the composite attributes are included in the new relation.</a:t>
            </a:r>
            <a:endParaRPr lang="en-US" sz="2800" dirty="0"/>
          </a:p>
        </p:txBody>
      </p:sp>
    </p:spTree>
    <p:extLst>
      <p:ext uri="{BB962C8B-B14F-4D97-AF65-F5344CB8AC3E}">
        <p14:creationId xmlns:p14="http://schemas.microsoft.com/office/powerpoint/2010/main" val="20454647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Domain</a:t>
            </a:r>
            <a:endParaRPr lang="en-US" b="1" dirty="0"/>
          </a:p>
        </p:txBody>
      </p:sp>
      <p:sp>
        <p:nvSpPr>
          <p:cNvPr id="3" name="Content Placeholder 2"/>
          <p:cNvSpPr>
            <a:spLocks noGrp="1"/>
          </p:cNvSpPr>
          <p:nvPr>
            <p:ph idx="1"/>
          </p:nvPr>
        </p:nvSpPr>
        <p:spPr/>
        <p:txBody>
          <a:bodyPr>
            <a:normAutofit/>
          </a:bodyPr>
          <a:lstStyle/>
          <a:p>
            <a:r>
              <a:rPr lang="en-US" sz="2800" dirty="0" smtClean="0"/>
              <a:t>A domain is a unique set of values permitted for an attribute in a table. For example, a domain of month-of-year can accept January, February… December as possible values, a domain of integers can accept whole numbers that are negative, positive and zero.</a:t>
            </a:r>
            <a:endParaRPr lang="en-US" sz="2800" dirty="0"/>
          </a:p>
        </p:txBody>
      </p:sp>
    </p:spTree>
    <p:extLst>
      <p:ext uri="{BB962C8B-B14F-4D97-AF65-F5344CB8AC3E}">
        <p14:creationId xmlns:p14="http://schemas.microsoft.com/office/powerpoint/2010/main" val="3411276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Tuple</a:t>
            </a:r>
            <a:endParaRPr lang="en-US" b="1" dirty="0"/>
          </a:p>
        </p:txBody>
      </p:sp>
      <p:sp>
        <p:nvSpPr>
          <p:cNvPr id="3" name="Content Placeholder 2"/>
          <p:cNvSpPr>
            <a:spLocks noGrp="1"/>
          </p:cNvSpPr>
          <p:nvPr>
            <p:ph idx="1"/>
          </p:nvPr>
        </p:nvSpPr>
        <p:spPr/>
        <p:txBody>
          <a:bodyPr>
            <a:normAutofit/>
          </a:bodyPr>
          <a:lstStyle/>
          <a:p>
            <a:r>
              <a:rPr lang="en-US" sz="2800" dirty="0" smtClean="0"/>
              <a:t>In the context of relational databases, a tuple is one record (one row). The information in a database can be thought of as a spreadsheet, with columns (known as fields or attributes) representing different categories of information, and tuples (rows) representing all the information from each field associated with a single record.</a:t>
            </a:r>
            <a:endParaRPr lang="en-US" sz="2800" dirty="0"/>
          </a:p>
        </p:txBody>
      </p:sp>
    </p:spTree>
    <p:extLst>
      <p:ext uri="{BB962C8B-B14F-4D97-AF65-F5344CB8AC3E}">
        <p14:creationId xmlns:p14="http://schemas.microsoft.com/office/powerpoint/2010/main" val="3421271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Types of Constraints</a:t>
            </a:r>
            <a:endParaRPr lang="en-US" b="1" dirty="0"/>
          </a:p>
        </p:txBody>
      </p:sp>
      <p:sp>
        <p:nvSpPr>
          <p:cNvPr id="3" name="Content Placeholder 2"/>
          <p:cNvSpPr>
            <a:spLocks noGrp="1"/>
          </p:cNvSpPr>
          <p:nvPr>
            <p:ph idx="1"/>
          </p:nvPr>
        </p:nvSpPr>
        <p:spPr/>
        <p:txBody>
          <a:bodyPr>
            <a:normAutofit/>
          </a:bodyPr>
          <a:lstStyle/>
          <a:p>
            <a:r>
              <a:rPr lang="en-US" sz="2800" dirty="0" smtClean="0"/>
              <a:t>Domain constraints</a:t>
            </a:r>
          </a:p>
          <a:p>
            <a:r>
              <a:rPr lang="en-US" sz="2800" dirty="0" smtClean="0"/>
              <a:t>Tuple Uniqueness constraints</a:t>
            </a:r>
          </a:p>
          <a:p>
            <a:r>
              <a:rPr lang="en-US" sz="2800" dirty="0" smtClean="0"/>
              <a:t>Key constraints </a:t>
            </a:r>
          </a:p>
          <a:p>
            <a:r>
              <a:rPr lang="en-US" sz="2800" dirty="0" smtClean="0"/>
              <a:t>Entity Integrity constraints </a:t>
            </a:r>
          </a:p>
          <a:p>
            <a:r>
              <a:rPr lang="en-US" sz="2800" dirty="0" smtClean="0"/>
              <a:t>Referential Integrity constraints </a:t>
            </a:r>
            <a:endParaRPr lang="en-US" sz="2800" dirty="0"/>
          </a:p>
        </p:txBody>
      </p:sp>
    </p:spTree>
    <p:extLst>
      <p:ext uri="{BB962C8B-B14F-4D97-AF65-F5344CB8AC3E}">
        <p14:creationId xmlns:p14="http://schemas.microsoft.com/office/powerpoint/2010/main" val="3899081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92776"/>
            <a:ext cx="8596668" cy="1110343"/>
          </a:xfrm>
        </p:spPr>
        <p:txBody>
          <a:bodyPr/>
          <a:lstStyle/>
          <a:p>
            <a:pPr algn="ctr"/>
            <a:r>
              <a:rPr lang="en-US" b="1" dirty="0" smtClean="0"/>
              <a:t>Domain Constraints </a:t>
            </a:r>
            <a:endParaRPr lang="en-US" b="1" dirty="0"/>
          </a:p>
        </p:txBody>
      </p:sp>
      <p:sp>
        <p:nvSpPr>
          <p:cNvPr id="3" name="Content Placeholder 2"/>
          <p:cNvSpPr>
            <a:spLocks noGrp="1"/>
          </p:cNvSpPr>
          <p:nvPr>
            <p:ph idx="1"/>
          </p:nvPr>
        </p:nvSpPr>
        <p:spPr>
          <a:xfrm>
            <a:off x="677334" y="2455817"/>
            <a:ext cx="8596668" cy="3585545"/>
          </a:xfrm>
        </p:spPr>
        <p:txBody>
          <a:bodyPr>
            <a:normAutofit/>
          </a:bodyPr>
          <a:lstStyle/>
          <a:p>
            <a:r>
              <a:rPr lang="en-US" sz="2800" dirty="0" smtClean="0"/>
              <a:t>Domain constraints defines the domain or set of values for an attribute. </a:t>
            </a:r>
          </a:p>
          <a:p>
            <a:r>
              <a:rPr lang="en-US" sz="2800" dirty="0" smtClean="0"/>
              <a:t>It specifies that the value taken by the attribute must be the atomic value from its domain</a:t>
            </a:r>
            <a:endParaRPr lang="en-US" sz="2800" dirty="0"/>
          </a:p>
        </p:txBody>
      </p:sp>
    </p:spTree>
    <p:extLst>
      <p:ext uri="{BB962C8B-B14F-4D97-AF65-F5344CB8AC3E}">
        <p14:creationId xmlns:p14="http://schemas.microsoft.com/office/powerpoint/2010/main" val="20402107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74320"/>
            <a:ext cx="8596668" cy="1656080"/>
          </a:xfrm>
        </p:spPr>
        <p:txBody>
          <a:bodyPr>
            <a:normAutofit fontScale="90000"/>
          </a:bodyPr>
          <a:lstStyle/>
          <a:p>
            <a:pPr algn="ctr"/>
            <a:r>
              <a:rPr lang="en-US" b="1" dirty="0" smtClean="0"/>
              <a:t>Considering the table below, value ‘A’ is not allowed since only integer values can be taken by the age attribute</a:t>
            </a:r>
            <a:endParaRPr lang="en-US" b="1"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125482700"/>
              </p:ext>
            </p:extLst>
          </p:nvPr>
        </p:nvGraphicFramePr>
        <p:xfrm>
          <a:off x="677863" y="2160587"/>
          <a:ext cx="8596311" cy="2881675"/>
        </p:xfrm>
        <a:graphic>
          <a:graphicData uri="http://schemas.openxmlformats.org/drawingml/2006/table">
            <a:tbl>
              <a:tblPr firstRow="1" bandRow="1">
                <a:tableStyleId>{5940675A-B579-460E-94D1-54222C63F5DA}</a:tableStyleId>
              </a:tblPr>
              <a:tblGrid>
                <a:gridCol w="2865437">
                  <a:extLst>
                    <a:ext uri="{9D8B030D-6E8A-4147-A177-3AD203B41FA5}">
                      <a16:colId xmlns:a16="http://schemas.microsoft.com/office/drawing/2014/main" val="3257831239"/>
                    </a:ext>
                  </a:extLst>
                </a:gridCol>
                <a:gridCol w="2865437">
                  <a:extLst>
                    <a:ext uri="{9D8B030D-6E8A-4147-A177-3AD203B41FA5}">
                      <a16:colId xmlns:a16="http://schemas.microsoft.com/office/drawing/2014/main" val="4047968158"/>
                    </a:ext>
                  </a:extLst>
                </a:gridCol>
                <a:gridCol w="2865437">
                  <a:extLst>
                    <a:ext uri="{9D8B030D-6E8A-4147-A177-3AD203B41FA5}">
                      <a16:colId xmlns:a16="http://schemas.microsoft.com/office/drawing/2014/main" val="865525234"/>
                    </a:ext>
                  </a:extLst>
                </a:gridCol>
              </a:tblGrid>
              <a:tr h="576335">
                <a:tc>
                  <a:txBody>
                    <a:bodyPr/>
                    <a:lstStyle/>
                    <a:p>
                      <a:pPr algn="ctr"/>
                      <a:r>
                        <a:rPr lang="en-US" sz="2800" b="1" dirty="0" smtClean="0"/>
                        <a:t>STU_ID</a:t>
                      </a:r>
                      <a:endParaRPr lang="en-US" sz="2800" b="1" dirty="0"/>
                    </a:p>
                  </a:txBody>
                  <a:tcPr/>
                </a:tc>
                <a:tc>
                  <a:txBody>
                    <a:bodyPr/>
                    <a:lstStyle/>
                    <a:p>
                      <a:pPr algn="ctr"/>
                      <a:r>
                        <a:rPr lang="en-US" sz="2800" b="1" dirty="0" smtClean="0"/>
                        <a:t>Name </a:t>
                      </a:r>
                      <a:endParaRPr lang="en-US" sz="2800" b="1" dirty="0"/>
                    </a:p>
                  </a:txBody>
                  <a:tcPr/>
                </a:tc>
                <a:tc>
                  <a:txBody>
                    <a:bodyPr/>
                    <a:lstStyle/>
                    <a:p>
                      <a:pPr algn="ctr"/>
                      <a:r>
                        <a:rPr lang="en-US" sz="2800" b="1" dirty="0" smtClean="0"/>
                        <a:t>Age</a:t>
                      </a:r>
                      <a:endParaRPr lang="en-US" b="1" dirty="0"/>
                    </a:p>
                  </a:txBody>
                  <a:tcPr/>
                </a:tc>
                <a:extLst>
                  <a:ext uri="{0D108BD9-81ED-4DB2-BD59-A6C34878D82A}">
                    <a16:rowId xmlns:a16="http://schemas.microsoft.com/office/drawing/2014/main" val="1778892351"/>
                  </a:ext>
                </a:extLst>
              </a:tr>
              <a:tr h="576335">
                <a:tc>
                  <a:txBody>
                    <a:bodyPr/>
                    <a:lstStyle/>
                    <a:p>
                      <a:pPr algn="ctr"/>
                      <a:r>
                        <a:rPr lang="en-US" sz="2800" b="1" dirty="0" smtClean="0"/>
                        <a:t>S001</a:t>
                      </a:r>
                      <a:endParaRPr lang="en-US" sz="2800" b="1" dirty="0"/>
                    </a:p>
                  </a:txBody>
                  <a:tcPr/>
                </a:tc>
                <a:tc>
                  <a:txBody>
                    <a:bodyPr/>
                    <a:lstStyle/>
                    <a:p>
                      <a:pPr algn="ctr"/>
                      <a:r>
                        <a:rPr lang="en-US" sz="2800" b="1" dirty="0" smtClean="0"/>
                        <a:t>Amoah</a:t>
                      </a:r>
                      <a:endParaRPr lang="en-US" sz="2800" b="1" dirty="0"/>
                    </a:p>
                  </a:txBody>
                  <a:tcPr/>
                </a:tc>
                <a:tc>
                  <a:txBody>
                    <a:bodyPr/>
                    <a:lstStyle/>
                    <a:p>
                      <a:pPr algn="ctr"/>
                      <a:r>
                        <a:rPr lang="en-US" sz="2800" b="1" dirty="0" smtClean="0"/>
                        <a:t>20</a:t>
                      </a:r>
                      <a:endParaRPr lang="en-US" sz="2800" b="1" dirty="0"/>
                    </a:p>
                  </a:txBody>
                  <a:tcPr/>
                </a:tc>
                <a:extLst>
                  <a:ext uri="{0D108BD9-81ED-4DB2-BD59-A6C34878D82A}">
                    <a16:rowId xmlns:a16="http://schemas.microsoft.com/office/drawing/2014/main" val="938495493"/>
                  </a:ext>
                </a:extLst>
              </a:tr>
              <a:tr h="576335">
                <a:tc>
                  <a:txBody>
                    <a:bodyPr/>
                    <a:lstStyle/>
                    <a:p>
                      <a:pPr algn="ctr"/>
                      <a:r>
                        <a:rPr lang="en-US" sz="2800" b="1" dirty="0" smtClean="0"/>
                        <a:t>S002</a:t>
                      </a:r>
                      <a:endParaRPr lang="en-US" sz="2800" b="1" dirty="0"/>
                    </a:p>
                  </a:txBody>
                  <a:tcPr/>
                </a:tc>
                <a:tc>
                  <a:txBody>
                    <a:bodyPr/>
                    <a:lstStyle/>
                    <a:p>
                      <a:pPr algn="ctr"/>
                      <a:r>
                        <a:rPr lang="en-US" sz="2800" b="1" dirty="0" err="1" smtClean="0"/>
                        <a:t>Abubakari</a:t>
                      </a:r>
                      <a:endParaRPr lang="en-US" sz="2800" b="1" dirty="0"/>
                    </a:p>
                  </a:txBody>
                  <a:tcPr/>
                </a:tc>
                <a:tc>
                  <a:txBody>
                    <a:bodyPr/>
                    <a:lstStyle/>
                    <a:p>
                      <a:pPr algn="ctr"/>
                      <a:r>
                        <a:rPr lang="en-US" sz="2800" b="1" dirty="0" smtClean="0"/>
                        <a:t>21</a:t>
                      </a:r>
                      <a:endParaRPr lang="en-US" sz="2800" b="1" dirty="0"/>
                    </a:p>
                  </a:txBody>
                  <a:tcPr/>
                </a:tc>
                <a:extLst>
                  <a:ext uri="{0D108BD9-81ED-4DB2-BD59-A6C34878D82A}">
                    <a16:rowId xmlns:a16="http://schemas.microsoft.com/office/drawing/2014/main" val="916995059"/>
                  </a:ext>
                </a:extLst>
              </a:tr>
              <a:tr h="576335">
                <a:tc>
                  <a:txBody>
                    <a:bodyPr/>
                    <a:lstStyle/>
                    <a:p>
                      <a:pPr algn="ctr"/>
                      <a:r>
                        <a:rPr lang="en-US" sz="2800" b="1" dirty="0" smtClean="0"/>
                        <a:t>S003</a:t>
                      </a:r>
                      <a:endParaRPr lang="en-US" sz="2800" b="1" dirty="0"/>
                    </a:p>
                  </a:txBody>
                  <a:tcPr/>
                </a:tc>
                <a:tc>
                  <a:txBody>
                    <a:bodyPr/>
                    <a:lstStyle/>
                    <a:p>
                      <a:pPr algn="ctr"/>
                      <a:r>
                        <a:rPr lang="en-US" sz="2800" b="1" dirty="0" err="1" smtClean="0"/>
                        <a:t>Modesta</a:t>
                      </a:r>
                      <a:endParaRPr lang="en-US" sz="2800" b="1" dirty="0"/>
                    </a:p>
                  </a:txBody>
                  <a:tcPr/>
                </a:tc>
                <a:tc>
                  <a:txBody>
                    <a:bodyPr/>
                    <a:lstStyle/>
                    <a:p>
                      <a:pPr algn="ctr"/>
                      <a:r>
                        <a:rPr lang="en-US" sz="2800" b="1" dirty="0" smtClean="0"/>
                        <a:t>20</a:t>
                      </a:r>
                      <a:endParaRPr lang="en-US" sz="2800" b="1" dirty="0"/>
                    </a:p>
                  </a:txBody>
                  <a:tcPr/>
                </a:tc>
                <a:extLst>
                  <a:ext uri="{0D108BD9-81ED-4DB2-BD59-A6C34878D82A}">
                    <a16:rowId xmlns:a16="http://schemas.microsoft.com/office/drawing/2014/main" val="1092344191"/>
                  </a:ext>
                </a:extLst>
              </a:tr>
              <a:tr h="576335">
                <a:tc>
                  <a:txBody>
                    <a:bodyPr/>
                    <a:lstStyle/>
                    <a:p>
                      <a:pPr algn="ctr"/>
                      <a:r>
                        <a:rPr lang="en-US" sz="2800" b="1" dirty="0" smtClean="0"/>
                        <a:t>S004</a:t>
                      </a:r>
                      <a:endParaRPr lang="en-US" sz="2800" b="1" dirty="0"/>
                    </a:p>
                  </a:txBody>
                  <a:tcPr/>
                </a:tc>
                <a:tc>
                  <a:txBody>
                    <a:bodyPr/>
                    <a:lstStyle/>
                    <a:p>
                      <a:pPr algn="ctr"/>
                      <a:r>
                        <a:rPr lang="en-US" sz="2800" b="1" dirty="0" smtClean="0"/>
                        <a:t>Samuel</a:t>
                      </a:r>
                      <a:endParaRPr lang="en-US" sz="2800" b="1" dirty="0"/>
                    </a:p>
                  </a:txBody>
                  <a:tcPr/>
                </a:tc>
                <a:tc>
                  <a:txBody>
                    <a:bodyPr/>
                    <a:lstStyle/>
                    <a:p>
                      <a:pPr algn="ctr"/>
                      <a:r>
                        <a:rPr lang="en-US" sz="2800" b="1" dirty="0" smtClean="0"/>
                        <a:t>A</a:t>
                      </a:r>
                      <a:endParaRPr lang="en-US" sz="2800" b="1" dirty="0"/>
                    </a:p>
                  </a:txBody>
                  <a:tcPr/>
                </a:tc>
                <a:extLst>
                  <a:ext uri="{0D108BD9-81ED-4DB2-BD59-A6C34878D82A}">
                    <a16:rowId xmlns:a16="http://schemas.microsoft.com/office/drawing/2014/main" val="365948552"/>
                  </a:ext>
                </a:extLst>
              </a:tr>
            </a:tbl>
          </a:graphicData>
        </a:graphic>
      </p:graphicFrame>
    </p:spTree>
    <p:extLst>
      <p:ext uri="{BB962C8B-B14F-4D97-AF65-F5344CB8AC3E}">
        <p14:creationId xmlns:p14="http://schemas.microsoft.com/office/powerpoint/2010/main" val="2479035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Tuple Uniqueness Constraints </a:t>
            </a:r>
            <a:endParaRPr lang="en-US" b="1" dirty="0"/>
          </a:p>
        </p:txBody>
      </p:sp>
      <p:sp>
        <p:nvSpPr>
          <p:cNvPr id="3" name="Content Placeholder 2"/>
          <p:cNvSpPr>
            <a:spLocks noGrp="1"/>
          </p:cNvSpPr>
          <p:nvPr>
            <p:ph idx="1"/>
          </p:nvPr>
        </p:nvSpPr>
        <p:spPr>
          <a:xfrm>
            <a:off x="677334" y="2312126"/>
            <a:ext cx="8596668" cy="3729236"/>
          </a:xfrm>
        </p:spPr>
        <p:txBody>
          <a:bodyPr>
            <a:normAutofit/>
          </a:bodyPr>
          <a:lstStyle/>
          <a:p>
            <a:r>
              <a:rPr lang="en-US" sz="2800" dirty="0" smtClean="0"/>
              <a:t>Tuple Uniqueness constraints specifies that all the tuples must be necessarily unique in any relation.</a:t>
            </a:r>
            <a:endParaRPr lang="en-US" sz="2800" dirty="0"/>
          </a:p>
        </p:txBody>
      </p:sp>
    </p:spTree>
    <p:extLst>
      <p:ext uri="{BB962C8B-B14F-4D97-AF65-F5344CB8AC3E}">
        <p14:creationId xmlns:p14="http://schemas.microsoft.com/office/powerpoint/2010/main" val="24539293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92777"/>
            <a:ext cx="8596668" cy="1031965"/>
          </a:xfrm>
        </p:spPr>
        <p:txBody>
          <a:bodyPr/>
          <a:lstStyle/>
          <a:p>
            <a:pPr algn="ctr"/>
            <a:r>
              <a:rPr lang="en-US" b="1" dirty="0" smtClean="0"/>
              <a:t>Key Constraints</a:t>
            </a:r>
            <a:endParaRPr lang="en-US" b="1" dirty="0"/>
          </a:p>
        </p:txBody>
      </p:sp>
      <p:sp>
        <p:nvSpPr>
          <p:cNvPr id="3" name="Content Placeholder 2"/>
          <p:cNvSpPr>
            <a:spLocks noGrp="1"/>
          </p:cNvSpPr>
          <p:nvPr>
            <p:ph idx="1"/>
          </p:nvPr>
        </p:nvSpPr>
        <p:spPr>
          <a:xfrm>
            <a:off x="677334" y="2312126"/>
            <a:ext cx="8596668" cy="3729236"/>
          </a:xfrm>
        </p:spPr>
        <p:txBody>
          <a:bodyPr>
            <a:normAutofit/>
          </a:bodyPr>
          <a:lstStyle/>
          <a:p>
            <a:r>
              <a:rPr lang="en-US" sz="2800" dirty="0" smtClean="0"/>
              <a:t>Key constraints specifies that in any relation;</a:t>
            </a:r>
          </a:p>
          <a:p>
            <a:r>
              <a:rPr lang="en-US" sz="2800" dirty="0" smtClean="0"/>
              <a:t>All the values of primary key must be unique.</a:t>
            </a:r>
          </a:p>
          <a:p>
            <a:r>
              <a:rPr lang="en-US" sz="2800" dirty="0" smtClean="0"/>
              <a:t>The value of primary key must not be null.</a:t>
            </a:r>
            <a:endParaRPr lang="en-US" sz="2800" dirty="0"/>
          </a:p>
        </p:txBody>
      </p:sp>
    </p:spTree>
    <p:extLst>
      <p:ext uri="{BB962C8B-B14F-4D97-AF65-F5344CB8AC3E}">
        <p14:creationId xmlns:p14="http://schemas.microsoft.com/office/powerpoint/2010/main" val="20633015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Entity Integrity Constraints</a:t>
            </a:r>
            <a:endParaRPr lang="en-US" b="1" dirty="0"/>
          </a:p>
        </p:txBody>
      </p:sp>
      <p:sp>
        <p:nvSpPr>
          <p:cNvPr id="3" name="Content Placeholder 2"/>
          <p:cNvSpPr>
            <a:spLocks noGrp="1"/>
          </p:cNvSpPr>
          <p:nvPr>
            <p:ph idx="1"/>
          </p:nvPr>
        </p:nvSpPr>
        <p:spPr/>
        <p:txBody>
          <a:bodyPr>
            <a:normAutofit/>
          </a:bodyPr>
          <a:lstStyle/>
          <a:p>
            <a:r>
              <a:rPr lang="en-US" sz="2800" dirty="0" smtClean="0"/>
              <a:t>Entity integrity constraints specifies that no attribute of primary key must contain a null value in any relation.</a:t>
            </a:r>
          </a:p>
          <a:p>
            <a:r>
              <a:rPr lang="en-US" sz="2800" dirty="0" smtClean="0"/>
              <a:t>This is because the presence of null value in the primary key violates the uniqueness property.</a:t>
            </a:r>
            <a:endParaRPr lang="en-US" sz="2800" dirty="0"/>
          </a:p>
        </p:txBody>
      </p:sp>
    </p:spTree>
    <p:extLst>
      <p:ext uri="{BB962C8B-B14F-4D97-AF65-F5344CB8AC3E}">
        <p14:creationId xmlns:p14="http://schemas.microsoft.com/office/powerpoint/2010/main" val="35851999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Referential Integrity Constraints </a:t>
            </a:r>
            <a:endParaRPr lang="en-US" b="1" dirty="0"/>
          </a:p>
        </p:txBody>
      </p:sp>
      <p:sp>
        <p:nvSpPr>
          <p:cNvPr id="3" name="Content Placeholder 2"/>
          <p:cNvSpPr>
            <a:spLocks noGrp="1"/>
          </p:cNvSpPr>
          <p:nvPr>
            <p:ph idx="1"/>
          </p:nvPr>
        </p:nvSpPr>
        <p:spPr/>
        <p:txBody>
          <a:bodyPr>
            <a:normAutofit/>
          </a:bodyPr>
          <a:lstStyle/>
          <a:p>
            <a:r>
              <a:rPr lang="en-US" sz="2800" dirty="0" smtClean="0"/>
              <a:t>This constraints is enforced when a foreign key references the primary key of a relation.</a:t>
            </a:r>
          </a:p>
          <a:p>
            <a:r>
              <a:rPr lang="en-US" sz="2800" dirty="0" smtClean="0"/>
              <a:t>It specifies that all the values taken by the foreign key must either be available in the relation of the primary key or be null.</a:t>
            </a:r>
            <a:endParaRPr lang="en-US" sz="2800" dirty="0"/>
          </a:p>
        </p:txBody>
      </p:sp>
    </p:spTree>
    <p:extLst>
      <p:ext uri="{BB962C8B-B14F-4D97-AF65-F5344CB8AC3E}">
        <p14:creationId xmlns:p14="http://schemas.microsoft.com/office/powerpoint/2010/main" val="3262137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Relational tables have six properties:</a:t>
            </a:r>
            <a:endParaRPr lang="en-US" b="1" dirty="0"/>
          </a:p>
        </p:txBody>
      </p:sp>
      <p:sp>
        <p:nvSpPr>
          <p:cNvPr id="3" name="Content Placeholder 2"/>
          <p:cNvSpPr>
            <a:spLocks noGrp="1"/>
          </p:cNvSpPr>
          <p:nvPr>
            <p:ph idx="1"/>
          </p:nvPr>
        </p:nvSpPr>
        <p:spPr/>
        <p:txBody>
          <a:bodyPr>
            <a:normAutofit/>
          </a:bodyPr>
          <a:lstStyle/>
          <a:p>
            <a:r>
              <a:rPr lang="en-US" sz="2800" dirty="0" smtClean="0"/>
              <a:t>Values are atomic</a:t>
            </a:r>
          </a:p>
          <a:p>
            <a:r>
              <a:rPr lang="en-US" sz="2800" dirty="0" smtClean="0"/>
              <a:t>Column value are of the same kind</a:t>
            </a:r>
          </a:p>
          <a:p>
            <a:r>
              <a:rPr lang="en-US" sz="2800" dirty="0" smtClean="0"/>
              <a:t>Each row is unique</a:t>
            </a:r>
          </a:p>
          <a:p>
            <a:r>
              <a:rPr lang="en-US" sz="2800" dirty="0" smtClean="0"/>
              <a:t>The sequence of columns is insignificant</a:t>
            </a:r>
          </a:p>
          <a:p>
            <a:r>
              <a:rPr lang="en-US" sz="2800" dirty="0" smtClean="0"/>
              <a:t>The sequence of rows is insignificant</a:t>
            </a:r>
          </a:p>
          <a:p>
            <a:r>
              <a:rPr lang="en-US" sz="2800" dirty="0" smtClean="0"/>
              <a:t>Each column must have a unique name.</a:t>
            </a:r>
            <a:endParaRPr lang="en-US" sz="2800" dirty="0"/>
          </a:p>
        </p:txBody>
      </p:sp>
    </p:spTree>
    <p:extLst>
      <p:ext uri="{BB962C8B-B14F-4D97-AF65-F5344CB8AC3E}">
        <p14:creationId xmlns:p14="http://schemas.microsoft.com/office/powerpoint/2010/main" val="37434655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What are Keys?</a:t>
            </a:r>
            <a:endParaRPr lang="en-US" b="1" dirty="0"/>
          </a:p>
        </p:txBody>
      </p:sp>
      <p:sp>
        <p:nvSpPr>
          <p:cNvPr id="3" name="Content Placeholder 2"/>
          <p:cNvSpPr>
            <a:spLocks noGrp="1"/>
          </p:cNvSpPr>
          <p:nvPr>
            <p:ph idx="1"/>
          </p:nvPr>
        </p:nvSpPr>
        <p:spPr/>
        <p:txBody>
          <a:bodyPr>
            <a:normAutofit/>
          </a:bodyPr>
          <a:lstStyle/>
          <a:p>
            <a:r>
              <a:rPr lang="en-US" sz="2800" dirty="0" smtClean="0"/>
              <a:t>A DBMS key is an attribute or set of an attribute which helps you to identify a row (tuple) in a relation (table).</a:t>
            </a:r>
          </a:p>
          <a:p>
            <a:r>
              <a:rPr lang="en-US" sz="2800" dirty="0" smtClean="0"/>
              <a:t>They allow you to find the relation between two tables.</a:t>
            </a:r>
            <a:endParaRPr lang="en-US" sz="2800" dirty="0"/>
          </a:p>
        </p:txBody>
      </p:sp>
    </p:spTree>
    <p:extLst>
      <p:ext uri="{BB962C8B-B14F-4D97-AF65-F5344CB8AC3E}">
        <p14:creationId xmlns:p14="http://schemas.microsoft.com/office/powerpoint/2010/main" val="23738650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Types of keys in DBMS</a:t>
            </a:r>
            <a:endParaRPr lang="en-US" b="1" dirty="0"/>
          </a:p>
        </p:txBody>
      </p:sp>
      <p:sp>
        <p:nvSpPr>
          <p:cNvPr id="3" name="Content Placeholder 2"/>
          <p:cNvSpPr>
            <a:spLocks noGrp="1"/>
          </p:cNvSpPr>
          <p:nvPr>
            <p:ph idx="1"/>
          </p:nvPr>
        </p:nvSpPr>
        <p:spPr/>
        <p:txBody>
          <a:bodyPr>
            <a:normAutofit lnSpcReduction="10000"/>
          </a:bodyPr>
          <a:lstStyle/>
          <a:p>
            <a:r>
              <a:rPr lang="en-US" sz="2400" dirty="0" smtClean="0"/>
              <a:t>Super Key </a:t>
            </a:r>
          </a:p>
          <a:p>
            <a:r>
              <a:rPr lang="en-US" sz="2400" dirty="0" smtClean="0"/>
              <a:t>Primary Key </a:t>
            </a:r>
          </a:p>
          <a:p>
            <a:r>
              <a:rPr lang="en-US" sz="2400" dirty="0" smtClean="0"/>
              <a:t>Candidate Key </a:t>
            </a:r>
          </a:p>
          <a:p>
            <a:r>
              <a:rPr lang="en-US" sz="2400" dirty="0" smtClean="0"/>
              <a:t>Alternate Key </a:t>
            </a:r>
          </a:p>
          <a:p>
            <a:r>
              <a:rPr lang="en-US" sz="2400" dirty="0" smtClean="0"/>
              <a:t>Foreign Key </a:t>
            </a:r>
          </a:p>
          <a:p>
            <a:r>
              <a:rPr lang="en-US" sz="2400" dirty="0" smtClean="0"/>
              <a:t>Compound Key </a:t>
            </a:r>
          </a:p>
          <a:p>
            <a:r>
              <a:rPr lang="en-US" sz="2400" dirty="0" smtClean="0"/>
              <a:t>Composite Key</a:t>
            </a:r>
          </a:p>
          <a:p>
            <a:r>
              <a:rPr lang="en-US" sz="2400" dirty="0" smtClean="0"/>
              <a:t>Surrogate Key </a:t>
            </a:r>
          </a:p>
          <a:p>
            <a:endParaRPr lang="en-US" sz="2400" dirty="0"/>
          </a:p>
        </p:txBody>
      </p:sp>
    </p:spTree>
    <p:extLst>
      <p:ext uri="{BB962C8B-B14F-4D97-AF65-F5344CB8AC3E}">
        <p14:creationId xmlns:p14="http://schemas.microsoft.com/office/powerpoint/2010/main" val="14539275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Rules of defining Primary Key </a:t>
            </a:r>
            <a:endParaRPr lang="en-US" b="1" dirty="0"/>
          </a:p>
        </p:txBody>
      </p:sp>
      <p:sp>
        <p:nvSpPr>
          <p:cNvPr id="3" name="Content Placeholder 2"/>
          <p:cNvSpPr>
            <a:spLocks noGrp="1"/>
          </p:cNvSpPr>
          <p:nvPr>
            <p:ph idx="1"/>
          </p:nvPr>
        </p:nvSpPr>
        <p:spPr/>
        <p:txBody>
          <a:bodyPr>
            <a:normAutofit/>
          </a:bodyPr>
          <a:lstStyle/>
          <a:p>
            <a:r>
              <a:rPr lang="en-US" sz="2800" dirty="0" smtClean="0"/>
              <a:t>It is a must for every row to have a primary key value.</a:t>
            </a:r>
          </a:p>
          <a:p>
            <a:r>
              <a:rPr lang="en-US" sz="2800" dirty="0" smtClean="0"/>
              <a:t>Two rows can’t have the same primary key value </a:t>
            </a:r>
          </a:p>
          <a:p>
            <a:r>
              <a:rPr lang="en-US" sz="2800" dirty="0" smtClean="0"/>
              <a:t>The primary key field cannot be null.</a:t>
            </a:r>
          </a:p>
          <a:p>
            <a:r>
              <a:rPr lang="en-US" sz="2800" dirty="0" smtClean="0"/>
              <a:t>The value in a primary key column can never be modified or updated if any foreign key refers to that primary key.</a:t>
            </a:r>
            <a:endParaRPr lang="en-US" sz="2800" dirty="0"/>
          </a:p>
        </p:txBody>
      </p:sp>
    </p:spTree>
    <p:extLst>
      <p:ext uri="{BB962C8B-B14F-4D97-AF65-F5344CB8AC3E}">
        <p14:creationId xmlns:p14="http://schemas.microsoft.com/office/powerpoint/2010/main" val="30773323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Cont.</a:t>
            </a:r>
            <a:endParaRPr lang="en-US" b="1" dirty="0"/>
          </a:p>
        </p:txBody>
      </p:sp>
      <p:sp>
        <p:nvSpPr>
          <p:cNvPr id="3" name="Content Placeholder 2"/>
          <p:cNvSpPr>
            <a:spLocks noGrp="1"/>
          </p:cNvSpPr>
          <p:nvPr>
            <p:ph idx="1"/>
          </p:nvPr>
        </p:nvSpPr>
        <p:spPr/>
        <p:txBody>
          <a:bodyPr>
            <a:noAutofit/>
          </a:bodyPr>
          <a:lstStyle/>
          <a:p>
            <a:r>
              <a:rPr lang="en-US" sz="2400" b="1" dirty="0" smtClean="0"/>
              <a:t>What is an Alternate key?</a:t>
            </a:r>
          </a:p>
          <a:p>
            <a:r>
              <a:rPr lang="en-US" sz="2400" dirty="0" smtClean="0"/>
              <a:t>This is a key which is qualified to be primary key but which is not the primary key. It is a candidate key which is currently not the primary key.</a:t>
            </a:r>
          </a:p>
          <a:p>
            <a:r>
              <a:rPr lang="en-US" sz="2400" b="1" dirty="0" smtClean="0"/>
              <a:t>What is a Candidate key?</a:t>
            </a:r>
          </a:p>
          <a:p>
            <a:r>
              <a:rPr lang="en-US" sz="2400" dirty="0" smtClean="0"/>
              <a:t>All the keys that have the properties of a primary key are called candidate keys. The primary Key should be selected from the candidate keys. The primary key is also a Candidate key</a:t>
            </a:r>
            <a:endParaRPr lang="en-US" sz="2400" dirty="0"/>
          </a:p>
        </p:txBody>
      </p:sp>
    </p:spTree>
    <p:extLst>
      <p:ext uri="{BB962C8B-B14F-4D97-AF65-F5344CB8AC3E}">
        <p14:creationId xmlns:p14="http://schemas.microsoft.com/office/powerpoint/2010/main" val="38007859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1734</TotalTime>
  <Words>1856</Words>
  <Application>Microsoft Office PowerPoint</Application>
  <PresentationFormat>Widescreen</PresentationFormat>
  <Paragraphs>223</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Trebuchet MS</vt:lpstr>
      <vt:lpstr>Wingdings 3</vt:lpstr>
      <vt:lpstr>Facet</vt:lpstr>
      <vt:lpstr>DATA BASE MANAGEMENT SYSTEM</vt:lpstr>
      <vt:lpstr>File-Base System </vt:lpstr>
      <vt:lpstr>Characteristics of file-based system</vt:lpstr>
      <vt:lpstr>Advantages of file-based system</vt:lpstr>
      <vt:lpstr>Limitations of file-based system</vt:lpstr>
      <vt:lpstr>DBMS</vt:lpstr>
      <vt:lpstr>Types of Database</vt:lpstr>
      <vt:lpstr>Roles of Database in an Organization </vt:lpstr>
      <vt:lpstr>Components of Database </vt:lpstr>
      <vt:lpstr>Advantages and Disadvantages of DBMS</vt:lpstr>
      <vt:lpstr>Disadvantages </vt:lpstr>
      <vt:lpstr>Database Model</vt:lpstr>
      <vt:lpstr>Types of Database Model</vt:lpstr>
      <vt:lpstr>Hierarchical and Network Model</vt:lpstr>
      <vt:lpstr>Entity-relationship and Relational Model</vt:lpstr>
      <vt:lpstr>Entity Relationship Diagram </vt:lpstr>
      <vt:lpstr>Entity </vt:lpstr>
      <vt:lpstr>Types of Entities </vt:lpstr>
      <vt:lpstr>Strong Entity</vt:lpstr>
      <vt:lpstr>Weak Entity </vt:lpstr>
      <vt:lpstr>Recursive Entity</vt:lpstr>
      <vt:lpstr>Composite Entity</vt:lpstr>
      <vt:lpstr>Subtype/ Supertype Entity</vt:lpstr>
      <vt:lpstr>ATTRIBUTES</vt:lpstr>
      <vt:lpstr>Types of Attributes</vt:lpstr>
      <vt:lpstr>Cont.</vt:lpstr>
      <vt:lpstr>E-R Diagrams </vt:lpstr>
      <vt:lpstr>Steps in creating ERD</vt:lpstr>
      <vt:lpstr>Example </vt:lpstr>
      <vt:lpstr>PowerPoint Presentation</vt:lpstr>
      <vt:lpstr>Best Practices for Developing Effective ER Diagrams</vt:lpstr>
      <vt:lpstr>Cont.</vt:lpstr>
      <vt:lpstr>Composite Attribute</vt:lpstr>
      <vt:lpstr>Domain</vt:lpstr>
      <vt:lpstr>Tuple</vt:lpstr>
      <vt:lpstr>Types of Constraints</vt:lpstr>
      <vt:lpstr>Domain Constraints </vt:lpstr>
      <vt:lpstr>Considering the table below, value ‘A’ is not allowed since only integer values can be taken by the age attribute</vt:lpstr>
      <vt:lpstr>Tuple Uniqueness Constraints </vt:lpstr>
      <vt:lpstr>Key Constraints</vt:lpstr>
      <vt:lpstr>Entity Integrity Constraints</vt:lpstr>
      <vt:lpstr>Referential Integrity Constraints </vt:lpstr>
      <vt:lpstr>Relational tables have six properties:</vt:lpstr>
      <vt:lpstr>What are Keys?</vt:lpstr>
      <vt:lpstr>Types of keys in DBMS</vt:lpstr>
      <vt:lpstr>Rules of defining Primary Key </vt:lpstr>
      <vt:lpstr>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BASE MANAGEMENT SYSTEM</dc:title>
  <dc:creator>PC</dc:creator>
  <cp:lastModifiedBy>PC</cp:lastModifiedBy>
  <cp:revision>30</cp:revision>
  <dcterms:created xsi:type="dcterms:W3CDTF">2024-06-10T05:58:55Z</dcterms:created>
  <dcterms:modified xsi:type="dcterms:W3CDTF">2024-06-11T10:53:05Z</dcterms:modified>
</cp:coreProperties>
</file>